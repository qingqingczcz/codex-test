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7aefdb1144414b" /><Relationship Type="http://schemas.openxmlformats.org/officeDocument/2006/relationships/extended-properties" Target="/docProps/app.xml" Id="R2ec082defaaf4dec" /><Relationship Type="http://schemas.openxmlformats.org/officeDocument/2006/relationships/officeDocument" Target="/ppt/presentation.xml" Id="Rb661a621cac747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bc751558af4456"/>
  </p:sldMasterIdLst>
  <p:notesMasterIdLst>
    <p:notesMasterId xmlns:r="http://schemas.openxmlformats.org/officeDocument/2006/relationships" r:id="Rc01f889ea0ff4359"/>
  </p:notesMasterIdLst>
  <p:sldIdLst>
    <p:sldId xmlns:r="http://schemas.openxmlformats.org/officeDocument/2006/relationships" id="256" r:id="R457ab138572e4772"/>
    <p:sldId xmlns:r="http://schemas.openxmlformats.org/officeDocument/2006/relationships" id="257" r:id="R8928055d63204235"/>
    <p:sldId xmlns:r="http://schemas.openxmlformats.org/officeDocument/2006/relationships" id="258" r:id="Re22c5583cd574a94"/>
    <p:sldId xmlns:r="http://schemas.openxmlformats.org/officeDocument/2006/relationships" id="259" r:id="R5798c170673c4d76"/>
    <p:sldId xmlns:r="http://schemas.openxmlformats.org/officeDocument/2006/relationships" id="260" r:id="R10420c0aacfc428a"/>
    <p:sldId xmlns:r="http://schemas.openxmlformats.org/officeDocument/2006/relationships" id="261" r:id="R40bed1b4ca81433a"/>
    <p:sldId xmlns:r="http://schemas.openxmlformats.org/officeDocument/2006/relationships" id="262" r:id="R9a2a10953d7d4b51"/>
    <p:sldId xmlns:r="http://schemas.openxmlformats.org/officeDocument/2006/relationships" id="263" r:id="Ra67f842701974872"/>
    <p:sldId xmlns:r="http://schemas.openxmlformats.org/officeDocument/2006/relationships" id="264" r:id="R0dc73f8aed5b4021"/>
    <p:sldId xmlns:r="http://schemas.openxmlformats.org/officeDocument/2006/relationships" id="265" r:id="R57221d3b40b74bbb"/>
    <p:sldId xmlns:r="http://schemas.openxmlformats.org/officeDocument/2006/relationships" id="266" r:id="R9346047d49a24c0c"/>
    <p:sldId xmlns:r="http://schemas.openxmlformats.org/officeDocument/2006/relationships" id="267" r:id="Rf427232a860e445a"/>
    <p:sldId xmlns:r="http://schemas.openxmlformats.org/officeDocument/2006/relationships" id="268" r:id="R8c7106556c1c47ed"/>
    <p:sldId xmlns:r="http://schemas.openxmlformats.org/officeDocument/2006/relationships" id="269" r:id="R7c2e3dea72f74113"/>
    <p:sldId xmlns:r="http://schemas.openxmlformats.org/officeDocument/2006/relationships" id="270" r:id="R3acf7f5340c142f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9e7bea692c4e60" /><Relationship Type="http://schemas.openxmlformats.org/officeDocument/2006/relationships/slideMaster" Target="/ppt/slideMasters/slideMaster1.xml" Id="R3abc751558af4456" /><Relationship Type="http://schemas.openxmlformats.org/officeDocument/2006/relationships/notesMaster" Target="/ppt/notesMasters/notesMaster1.xml" Id="Rc01f889ea0ff4359" /><Relationship Type="http://schemas.openxmlformats.org/officeDocument/2006/relationships/presProps" Target="/ppt/presProps.xml" Id="Rff0fe657f8f04c0d" /><Relationship Type="http://schemas.openxmlformats.org/officeDocument/2006/relationships/tableStyles" Target="/ppt/tableStyles.xml" Id="Ra2b24aad106344b0" /><Relationship Type="http://schemas.openxmlformats.org/officeDocument/2006/relationships/slide" Target="/ppt/slides/slide1.xml" Id="R457ab138572e4772" /><Relationship Type="http://schemas.openxmlformats.org/officeDocument/2006/relationships/slide" Target="/ppt/slides/slide2.xml" Id="R8928055d63204235" /><Relationship Type="http://schemas.openxmlformats.org/officeDocument/2006/relationships/slide" Target="/ppt/slides/slide3.xml" Id="Re22c5583cd574a94" /><Relationship Type="http://schemas.openxmlformats.org/officeDocument/2006/relationships/slide" Target="/ppt/slides/slide4.xml" Id="R5798c170673c4d76" /><Relationship Type="http://schemas.openxmlformats.org/officeDocument/2006/relationships/slide" Target="/ppt/slides/slide5.xml" Id="R10420c0aacfc428a" /><Relationship Type="http://schemas.openxmlformats.org/officeDocument/2006/relationships/slide" Target="/ppt/slides/slide6.xml" Id="R40bed1b4ca81433a" /><Relationship Type="http://schemas.openxmlformats.org/officeDocument/2006/relationships/slide" Target="/ppt/slides/slide7.xml" Id="R9a2a10953d7d4b51" /><Relationship Type="http://schemas.openxmlformats.org/officeDocument/2006/relationships/slide" Target="/ppt/slides/slide8.xml" Id="Ra67f842701974872" /><Relationship Type="http://schemas.openxmlformats.org/officeDocument/2006/relationships/slide" Target="/ppt/slides/slide9.xml" Id="R0dc73f8aed5b4021" /><Relationship Type="http://schemas.openxmlformats.org/officeDocument/2006/relationships/slide" Target="/ppt/slides/slide10.xml" Id="R57221d3b40b74bbb" /><Relationship Type="http://schemas.openxmlformats.org/officeDocument/2006/relationships/slide" Target="/ppt/slides/slide11.xml" Id="R9346047d49a24c0c" /><Relationship Type="http://schemas.openxmlformats.org/officeDocument/2006/relationships/slide" Target="/ppt/slides/slide12.xml" Id="Rf427232a860e445a" /><Relationship Type="http://schemas.openxmlformats.org/officeDocument/2006/relationships/slide" Target="/ppt/slides/slide13.xml" Id="R8c7106556c1c47ed" /><Relationship Type="http://schemas.openxmlformats.org/officeDocument/2006/relationships/slide" Target="/ppt/slides/slide14.xml" Id="R7c2e3dea72f74113" /><Relationship Type="http://schemas.openxmlformats.org/officeDocument/2006/relationships/slide" Target="/ppt/slides/slide15.xml" Id="R3acf7f5340c142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715e4e8c634f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e7c6932e284342" /><Relationship Type="http://schemas.openxmlformats.org/officeDocument/2006/relationships/notesMaster" Target="/ppt/notesMasters/notesMaster1.xml" Id="R995ac85a932f4e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3515b0967748bf" /><Relationship Type="http://schemas.openxmlformats.org/officeDocument/2006/relationships/notesMaster" Target="/ppt/notesMasters/notesMaster1.xml" Id="R78c7ad03a5bd47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2f2b9baa5341b1" /><Relationship Type="http://schemas.openxmlformats.org/officeDocument/2006/relationships/notesMaster" Target="/ppt/notesMasters/notesMaster1.xml" Id="R1c6c7860afca47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e17a8ee1d54ebe" /><Relationship Type="http://schemas.openxmlformats.org/officeDocument/2006/relationships/notesMaster" Target="/ppt/notesMasters/notesMaster1.xml" Id="R92e3e46361534d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ef48a6ff1948c2" /><Relationship Type="http://schemas.openxmlformats.org/officeDocument/2006/relationships/notesMaster" Target="/ppt/notesMasters/notesMaster1.xml" Id="Rf708e49bf0ec4a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e4c4a6164347ed" /><Relationship Type="http://schemas.openxmlformats.org/officeDocument/2006/relationships/notesMaster" Target="/ppt/notesMasters/notesMaster1.xml" Id="R6a09dec6e47f4e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90a0e10c8049ff" /><Relationship Type="http://schemas.openxmlformats.org/officeDocument/2006/relationships/notesMaster" Target="/ppt/notesMasters/notesMaster1.xml" Id="R4a3b6a0449f44d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4907e1e21246be" /><Relationship Type="http://schemas.openxmlformats.org/officeDocument/2006/relationships/notesMaster" Target="/ppt/notesMasters/notesMaster1.xml" Id="Rb91f648e71a842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ecf112d81e4137" /><Relationship Type="http://schemas.openxmlformats.org/officeDocument/2006/relationships/notesMaster" Target="/ppt/notesMasters/notesMaster1.xml" Id="R506cb80aa31b40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0a5168753147a0" /><Relationship Type="http://schemas.openxmlformats.org/officeDocument/2006/relationships/notesMaster" Target="/ppt/notesMasters/notesMaster1.xml" Id="R02b745cb89194f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4575389775471f" /><Relationship Type="http://schemas.openxmlformats.org/officeDocument/2006/relationships/notesMaster" Target="/ppt/notesMasters/notesMaster1.xml" Id="Rdbac400fb4f54d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e1e010cee44af1" /><Relationship Type="http://schemas.openxmlformats.org/officeDocument/2006/relationships/notesMaster" Target="/ppt/notesMasters/notesMaster1.xml" Id="Rc16c8bbfba4c4b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cb540c072b4cb3" /><Relationship Type="http://schemas.openxmlformats.org/officeDocument/2006/relationships/notesMaster" Target="/ppt/notesMasters/notesMaster1.xml" Id="Ree874249603844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6a69c3a4214cb4" /><Relationship Type="http://schemas.openxmlformats.org/officeDocument/2006/relationships/notesMaster" Target="/ppt/notesMasters/notesMaster1.xml" Id="Re1e1d389fedc42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cc91bc08aa49fa" /><Relationship Type="http://schemas.openxmlformats.org/officeDocument/2006/relationships/notesMaster" Target="/ppt/notesMasters/notesMaster1.xml" Id="Rf8dc39ce8a2643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副标题：平移门 vs. 平开门｜设计、工程与成本协同决策</a:t>
            </a:r>
          </a:p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研究范围：地上会所、住宅单元大堂、地下单元大堂。</a:t>
            </a:r>
          </a:p>
          <a:p xmlns:a="http://schemas.openxmlformats.org/drawingml/2006/main">
            <a:r>
              <a:t>决策维度：通行、立面、环境适应性、维护与成本。</a:t>
            </a:r>
          </a:p>
          <a:p xmlns:a="http://schemas.openxmlformats.org/drawingml/2006/main">
            <a:r>
              <a:t>汇报目标：形成分部位选型原则、技术边界与询价清单。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B10作主图，A03作小幅对照图，分别表达平移入口与平开入口；叠加开启方向线稿。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中文：“高端住宅 会所 玻璃自动门 入口”</a:t>
            </a:r>
          </a:p>
          <a:p xmlns:a="http://schemas.openxmlformats.org/drawingml/2006/main">
            <a:r>
              <a:t>英文：“luxury residential clubhouse automatic glass entrance”</a:t>
            </a:r>
          </a:p>
          <a:p xmlns:a="http://schemas.openxmlformats.org/drawingml/2006/main">
            <a:r>
              <a:t>平台：ArchDaily、谷德设计网、建E网。</a:t>
            </a:r>
          </a:p>
          <a:p xmlns:a="http://schemas.openxmlformats.org/drawingml/2006/main">
            <a:r>
              <a:t>画面：完整入口、有人物尺度、能看清门头与地面关系。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以三类公区的实际条件为起点，形成设计、工程和成本共同使用的选型依据。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部位｜动线特点｜环境风险｜核心需求</a:t>
            </a:r>
          </a:p>
          <a:p xmlns:a="http://schemas.openxmlformats.org/drawingml/2006/main">
            <a:r>
              <a:t>地上会所｜接待访客，活动时可能集中通行｜室外盐雾、风雨，视雨棚与朝向而变｜展示性、通行效率、风雨缓冲</a:t>
            </a:r>
          </a:p>
          <a:p xmlns:a="http://schemas.openxmlformats.org/drawingml/2006/main">
            <a:r>
              <a:t>住宅单元大堂｜日常反复通行，老人、儿童及推车并行｜盐雾、风压及门厅内外温湿差｜门禁、安全、净宽、关门可靠性</a:t>
            </a:r>
          </a:p>
          <a:p xmlns:a="http://schemas.openxmlformats.org/drawingml/2006/main">
            <a:r>
              <a:t>地下单元大堂｜车库归家、携物通行、安防控制｜潮湿、冷凝、积水；盐雾暴露程度需实勘｜防潮、排水、感应及安防联动</a:t>
            </a:r>
          </a:p>
          <a:p xmlns:a="http://schemas.openxmlformats.org/drawingml/2006/main">
            <a:r>
              <a:t>按“室外直露—半室外—室内缓冲区”划分环境，不能仅按地上、地下判断。</a:t>
            </a:r>
          </a:p>
          <a:p xmlns:a="http://schemas.openxmlformats.org/drawingml/2006/main">
            <a:r>
              <a:t>青岛除夏季台风影响，还需检查冬季低温、冻融及排水冻结。</a:t>
            </a:r>
          </a:p>
          <a:p xmlns:a="http://schemas.openxmlformats.org/drawingml/2006/main">
            <a:r>
              <a:t>人流、风荷载、温湿度及防涝标高：待深化。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A01展示地下归家，A06展示通透入口；会所图如无项目确认，标为“空间意向”，不直接认定照片部位。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中文：“青岛沿海住宅 会所入口 地下归家大堂”</a:t>
            </a:r>
          </a:p>
          <a:p xmlns:a="http://schemas.openxmlformats.org/drawingml/2006/main">
            <a:r>
              <a:t>英文：“coastal residential entrance basement arrival lobby”</a:t>
            </a:r>
          </a:p>
          <a:p xmlns:a="http://schemas.openxmlformats.org/drawingml/2006/main">
            <a:r>
              <a:t>平台：项目总平与建筑图、谷德设计网、ArchDaily。</a:t>
            </a:r>
          </a:p>
          <a:p xmlns:a="http://schemas.openxmlformats.org/drawingml/2006/main">
            <a:r>
              <a:t>画面：三部位同尺度对照，配室内外边界、风雨及动线箭头。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先判断入口暴露程度和动线，再确定门型，避免同项目一刀切。</a:t>
            </a:r>
          </a:p>
          <a:p xmlns:a="http://schemas.openxmlformats.org/drawingml/2006/main">
            <a:r>
              <a:t>来源：D4、I-A01/A06、J；项目环境参数V。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判断维度｜平移门优先评估条件｜平开门优先评估条件</a:t>
            </a:r>
          </a:p>
          <a:p xmlns:a="http://schemas.openxmlformats.org/drawingml/2006/main">
            <a:r>
              <a:t>通行｜连续双向、推车或携物通行较多｜门禁控制、间歇通行</a:t>
            </a:r>
          </a:p>
          <a:p xmlns:a="http://schemas.openxmlformats.org/drawingml/2006/main">
            <a:r>
              <a:t>空间｜有侧向收纳、门头承重与检修空间｜有安全开启扇区、候门空间</a:t>
            </a:r>
          </a:p>
          <a:p xmlns:a="http://schemas.openxmlformats.org/drawingml/2006/main">
            <a:r>
              <a:t>门洞｜大面宽；固定玻璃与活动扇可合理组合｜窄洞口或侧向无法收纳；需核净宽</a:t>
            </a:r>
          </a:p>
          <a:p xmlns:a="http://schemas.openxmlformats.org/drawingml/2006/main">
            <a:r>
              <a:t>立面｜连续玻璃、视线通透、隐藏门头｜高门扇、装饰分格、拉手仪式感</a:t>
            </a:r>
          </a:p>
          <a:p xmlns:a="http://schemas.openxmlformats.org/drawingml/2006/main">
            <a:r>
              <a:t>成本｜常规感应系统作为基准方案｜上置与地埋分别询价，避免默认地埋</a:t>
            </a:r>
          </a:p>
          <a:p xmlns:a="http://schemas.openxmlformats.org/drawingml/2006/main">
            <a:r>
              <a:t>会所主入口优先评估平移；单元和地下入口按上述条件比选。</a:t>
            </a:r>
          </a:p>
          <a:p xmlns:a="http://schemas.openxmlformats.org/drawingml/2006/main">
            <a:r>
              <a:t>不设未经验证的“某门宽以上必须平移”硬阈值。</a:t>
            </a:r>
          </a:p>
          <a:p xmlns:a="http://schemas.openxmlformats.org/drawingml/2006/main">
            <a:r>
              <a:t>高湿、易积水部位优先排除不具备可靠排水的地埋方案。</a:t>
            </a:r>
          </a:p>
          <a:p xmlns:a="http://schemas.openxmlformats.org/drawingml/2006/main">
            <a:r>
              <a:t>消防、疏散、无障碍及失电操作要求先于外观选择。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B10与A06并列，统一比例标出侧向收纳和开启扇区；A10作立面风格补充。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中文：“平移门 平开门 净宽 收纳空间 对比”</a:t>
            </a:r>
          </a:p>
          <a:p xmlns:a="http://schemas.openxmlformats.org/drawingml/2006/main">
            <a:r>
              <a:t>英文：“sliding versus swing door clearance diagram”</a:t>
            </a:r>
          </a:p>
          <a:p xmlns:a="http://schemas.openxmlformats.org/drawingml/2006/main">
            <a:r>
              <a:t>平台：多玛凯拔、盖泽、瑞可达官网及技术手册。</a:t>
            </a:r>
          </a:p>
          <a:p xmlns:a="http://schemas.openxmlformats.org/drawingml/2006/main">
            <a:r>
              <a:t>画面：相同洞口条件下的两种开启平面。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门型选择有先后顺序：安全和空间成立后，再讨论立面与成本。</a:t>
            </a:r>
          </a:p>
          <a:p xmlns:a="http://schemas.openxmlformats.org/drawingml/2006/main">
            <a:r>
              <a:t>来源：I-B10/A06/A10、J；选型工况V。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项目｜电动平移门｜电动平开门</a:t>
            </a:r>
          </a:p>
          <a:p xmlns:a="http://schemas.openxmlformats.org/drawingml/2006/main">
            <a:r>
              <a:t>土建接口｜门头承重、侧向收纳、检修口｜门轴受力、开启扇区；地埋型另设基坑</a:t>
            </a:r>
          </a:p>
          <a:p xmlns:a="http://schemas.openxmlformats.org/drawingml/2006/main">
            <a:r>
              <a:t>机电接口｜门头电源、感应、门禁、安全检测｜上置或地埋供电、扇区检测、门禁</a:t>
            </a:r>
          </a:p>
          <a:p xmlns:a="http://schemas.openxmlformats.org/drawingml/2006/main">
            <a:r>
              <a:t>主要维护｜轨道、吊轮、传动、导向与传感器｜门轴、铰链、传动机构；地埋另查箱体排水</a:t>
            </a:r>
          </a:p>
          <a:p xmlns:a="http://schemas.openxmlformats.org/drawingml/2006/main">
            <a:r>
              <a:t>报价边界｜单/双扇、固定玻璃、安全附件｜电机数量、门扇、上置/地埋及土建范围</a:t>
            </a:r>
          </a:p>
          <a:p xmlns:a="http://schemas.openxmlformats.org/drawingml/2006/main">
            <a:r>
              <a:t>一级按平移/平开，二级再分常规/磁悬浮、上置/地埋。</a:t>
            </a:r>
          </a:p>
          <a:p xmlns:a="http://schemas.openxmlformats.org/drawingml/2006/main">
            <a:r>
              <a:t>电动平开不等于地埋，隐藏设备也不代表无需检修。</a:t>
            </a:r>
          </a:p>
          <a:p xmlns:a="http://schemas.openxmlformats.org/drawingml/2006/main">
            <a:r>
              <a:t>整门统一按元/套比较；门体可辅以元/㎡分析。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B01与A03并排，配系统分解线稿及专业接口标注。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中文：“自动平移门 系统构成 自动平开门 安装剖面”</a:t>
            </a:r>
          </a:p>
          <a:p xmlns:a="http://schemas.openxmlformats.org/drawingml/2006/main">
            <a:r>
              <a:t>英文：“automatic sliding swing door operator installation section”</a:t>
            </a:r>
          </a:p>
          <a:p xmlns:a="http://schemas.openxmlformats.org/drawingml/2006/main">
            <a:r>
              <a:t>平台：品牌官网、官方安装手册。</a:t>
            </a:r>
          </a:p>
          <a:p xmlns:a="http://schemas.openxmlformats.org/drawingml/2006/main">
            <a:r>
              <a:t>画面：电机、控制器、安全检测、承重与检修位置完整。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分类服务于接口管理，让设计、工程和成本使用同一套边界。</a:t>
            </a:r>
          </a:p>
          <a:p xmlns:a="http://schemas.openxmlformats.org/drawingml/2006/main">
            <a:r>
              <a:t>来源：I-B01/A03、J。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适用：会所主入口、大面宽单元大堂及满足条件的地下归家入口。</a:t>
            </a:r>
          </a:p>
          <a:p xmlns:a="http://schemas.openxmlformats.org/drawingml/2006/main">
            <a:r>
              <a:t>连续通行时不占平开扇区，但门扇侧向移动区仍需防夹及防碰控制。</a:t>
            </a:r>
          </a:p>
          <a:p xmlns:a="http://schemas.openxmlformats.org/drawingml/2006/main">
            <a:r>
              <a:t>门机可藏于门头或吊顶，应预留承重连接和可拆卸检修面。</a:t>
            </a:r>
          </a:p>
          <a:p xmlns:a="http://schemas.openxmlformats.org/drawingml/2006/main">
            <a:r>
              <a:t>迎风入口需配合门厅、雨棚与台风运行策略，门机不能替代抗风设计。</a:t>
            </a:r>
          </a:p>
          <a:p xmlns:a="http://schemas.openxmlformats.org/drawingml/2006/main">
            <a:r>
              <a:t>人流量阈值、开启时间及安全检测范围：待深化。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B01作系统示例，B10作通透效果示例。B01标出警示带、门禁柱和门头；B10标出玻璃连续视线。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中文：“会所 无地轨 玻璃自动平移门 门头检修”</a:t>
            </a:r>
          </a:p>
          <a:p xmlns:a="http://schemas.openxmlformats.org/drawingml/2006/main">
            <a:r>
              <a:t>英文：“frameless automatic sliding entrance concealed operator access”</a:t>
            </a:r>
          </a:p>
          <a:p xmlns:a="http://schemas.openxmlformats.org/drawingml/2006/main">
            <a:r>
              <a:t>平台：ArchDaily、谷德设计网、品牌案例库。</a:t>
            </a:r>
          </a:p>
          <a:p xmlns:a="http://schemas.openxmlformats.org/drawingml/2006/main">
            <a:r>
              <a:t>画面：开启前后对照，能看清门扇收纳及门头检修位置。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平移门的空间优势，要靠侧向收纳、导向和检修条件共同实现。</a:t>
            </a:r>
          </a:p>
          <a:p xmlns:a="http://schemas.openxmlformats.org/drawingml/2006/main">
            <a:r>
              <a:t>来源：D1、I-B01/B10、J。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铜艺方案：双面纯铜面板＋不锈钢骨架＋蜂窝板；厚度、连接与封边待深化。</a:t>
            </a:r>
          </a:p>
          <a:p xmlns:a="http://schemas.openxmlformats.org/drawingml/2006/main">
            <a:r>
              <a:t>玻璃底稿为6–12mm超白钢化；超白是外观属性，安全构成与厚度须另行设计。</a:t>
            </a:r>
          </a:p>
          <a:p xmlns:a="http://schemas.openxmlformats.org/drawingml/2006/main">
            <a:r>
              <a:t>参考宽3600×高2900mm，须确认是洞口、整樘还是其他尺寸口径。</a:t>
            </a:r>
          </a:p>
          <a:p xmlns:a="http://schemas.openxmlformats.org/drawingml/2006/main">
            <a:r>
              <a:t>净开宽1200–2800mm为底稿参考范围，不直接与上述尺寸组成确定方案。</a:t>
            </a:r>
          </a:p>
          <a:p xmlns:a="http://schemas.openxmlformats.org/drawingml/2006/main">
            <a:r>
              <a:t>大面宽优先评估夹胶安全玻璃；极窄框同步校核刚度、嵌固、导向及门重。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B10展示细框通透效果，B05展示中央开口与两侧玻璃比例。B05仅作立面参考，暂不据图确认驱动形式。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中文：“极窄铜框 平移门 夹胶玻璃 嵌固节点”</a:t>
            </a:r>
          </a:p>
          <a:p xmlns:a="http://schemas.openxmlformats.org/drawingml/2006/main">
            <a:r>
              <a:t>英文：“slim bronze sliding door laminated glass glazing section”</a:t>
            </a:r>
          </a:p>
          <a:p xmlns:a="http://schemas.openxmlformats.org/drawingml/2006/main">
            <a:r>
              <a:t>平台：门窗系统商资料、建E网、Pinterest。</a:t>
            </a:r>
          </a:p>
          <a:p xmlns:a="http://schemas.openxmlformats.org/drawingml/2006/main">
            <a:r>
              <a:t>画面：正面可视宽度与剖面深度对照，明确骨架和玻璃构成。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先明确尺寸口径和玻璃构成，才能讨论门重、极窄效果与门机适配。</a:t>
            </a:r>
          </a:p>
          <a:p xmlns:a="http://schemas.openxmlformats.org/drawingml/2006/main">
            <a:r>
              <a:t>来源：D1、D4、I-B10/B05；尺寸及结构V。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底稿型号｜底稿承重/噪声｜机组参考价，不含门体｜处理意见</a:t>
            </a:r>
          </a:p>
          <a:p xmlns:a="http://schemas.openxmlformats.org/drawingml/2006/main">
            <a:r>
              <a:t>多玛ES200｜200kg；≤48dB｜8,800–15,000元｜核实版本、单/双扇承重与测试条件</a:t>
            </a:r>
          </a:p>
          <a:p xmlns:a="http://schemas.openxmlformats.org/drawingml/2006/main">
            <a:r>
              <a:t>松下150型｜150kg；≤50dB｜6,500–9,800元｜补完整型号及技术文件</a:t>
            </a:r>
          </a:p>
          <a:p xmlns:a="http://schemas.openxmlformats.org/drawingml/2006/main">
            <a:r>
              <a:t>瑞可达DFA127｜120kg；≤45dB｜12,000–18,000元｜移至平开核查，不参与本页排名</a:t>
            </a:r>
          </a:p>
          <a:p xmlns:a="http://schemas.openxmlformats.org/drawingml/2006/main">
            <a:r>
              <a:t>普通感应平移整门：1.2–2.2万元/套，铜艺另计。</a:t>
            </a:r>
          </a:p>
          <a:p xmlns:a="http://schemas.openxmlformats.org/drawingml/2006/main">
            <a:r>
              <a:t>磁悬浮整门：1.8–3.5万元/套，铜艺另计；具体品牌型号待深化。</a:t>
            </a:r>
          </a:p>
          <a:p xmlns:a="http://schemas.openxmlformats.org/drawingml/2006/main">
            <a:r>
              <a:t>机组价与整门价不可直接相加，也不可任意组合不同区间端点。</a:t>
            </a:r>
          </a:p>
          <a:p xmlns:a="http://schemas.openxmlformats.org/drawingml/2006/main">
            <a:r>
              <a:t>噪声需统一测试环境、距离、门体及运行状态后比较。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B01门头裁切仅作位置示意；产品图及性能以官方手册补充，不从照片推断品牌。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中文：“多玛ES200 技术手册 松下150自动门 磁悬浮门机”</a:t>
            </a:r>
          </a:p>
          <a:p xmlns:a="http://schemas.openxmlformats.org/drawingml/2006/main">
            <a:r>
              <a:t>英文：“dormakaba ES 200 technical data Panasonic sliding door operator”</a:t>
            </a:r>
          </a:p>
          <a:p xmlns:a="http://schemas.openxmlformats.org/drawingml/2006/main">
            <a:r>
              <a:t>平台：品牌官网、官方授权渠道。</a:t>
            </a:r>
          </a:p>
          <a:p xmlns:a="http://schemas.openxmlformats.org/drawingml/2006/main">
            <a:r>
              <a:t>画面：带型号、安装尺寸及荷载说明的产品页。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此页价格用于预算初筛，参数和供货范围确认后才具备比价意义。</a:t>
            </a:r>
          </a:p>
          <a:p xmlns:a="http://schemas.openxmlformats.org/drawingml/2006/main">
            <a:r>
              <a:t>来源：D1；全部性能和价格V。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适用：住宅单元人行门、地下大堂通道及缺少侧向收纳的门洞。</a:t>
            </a:r>
          </a:p>
          <a:p xmlns:a="http://schemas.openxmlformats.org/drawingml/2006/main">
            <a:r>
              <a:t>窄洞口可评估单扇，但有效净宽要扣除框、扇及五金影响。</a:t>
            </a:r>
          </a:p>
          <a:p xmlns:a="http://schemas.openxmlformats.org/drawingml/2006/main">
            <a:r>
              <a:t>开启扇区不得与候梯、门禁等待、推车和转弯动线冲突。</a:t>
            </a:r>
          </a:p>
          <a:p xmlns:a="http://schemas.openxmlformats.org/drawingml/2006/main">
            <a:r>
              <a:t>高门扇与装饰拉手形成仪式感，也增加重量和日常维护工作。</a:t>
            </a:r>
          </a:p>
          <a:p xmlns:a="http://schemas.openxmlformats.org/drawingml/2006/main">
            <a:r>
              <a:t>地埋与上置同步比选；开启角度、频率及室外适用性待确认。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A03主图，A05与B07辅助：分别表达地下通行、高门扇效果和双扇开启。叠加扇区与人员等待位置。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中文：“住宅单元 电动平开门 开启扇区 门禁等候”</a:t>
            </a:r>
          </a:p>
          <a:p xmlns:a="http://schemas.openxmlformats.org/drawingml/2006/main">
            <a:r>
              <a:t>英文：“residential automatic swing door safety clearance access control”</a:t>
            </a:r>
          </a:p>
          <a:p xmlns:a="http://schemas.openxmlformats.org/drawingml/2006/main">
            <a:r>
              <a:t>平台：盖泽、瑞可达官网、建E网。</a:t>
            </a:r>
          </a:p>
          <a:p xmlns:a="http://schemas.openxmlformats.org/drawingml/2006/main">
            <a:r>
              <a:t>画面：平面中同时标出门扇、轮椅、推车和门禁操作位置。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平开门不是只看能否打开，更要看打开后人站在哪里、如何通过。</a:t>
            </a:r>
          </a:p>
          <a:p xmlns:a="http://schemas.openxmlformats.org/drawingml/2006/main">
            <a:r>
              <a:t>来源：D2、I-A03/A05/B07、J。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底稿材料：T2紫铜＋热镀锌钢骨架；或超白玻璃＋极窄金属框。</a:t>
            </a:r>
          </a:p>
          <a:p xmlns:a="http://schemas.openxmlformats.org/drawingml/2006/main">
            <a:r>
              <a:t>沿海高暴露部位，热镀锌钢须论证焊缝、切口和内腔防腐，并与不锈钢方案比选。</a:t>
            </a:r>
          </a:p>
          <a:p xmlns:a="http://schemas.openxmlformats.org/drawingml/2006/main">
            <a:r>
              <a:t>常规参考单扇宽1.2–1.8m、高2.4–2.9m，不代表所有门机均可覆盖。</a:t>
            </a:r>
          </a:p>
          <a:p xmlns:a="http://schemas.openxmlformats.org/drawingml/2006/main">
            <a:r>
              <a:t>门扇重量应计入玻璃、框、铜板、长拉手及连接件，不能只估玻璃重量。</a:t>
            </a:r>
          </a:p>
          <a:p xmlns:a="http://schemas.openxmlformats.org/drawingml/2006/main">
            <a:r>
              <a:t>“3.5m/600kg”等能力需核曲线；门越宽，风力矩及传动要求越需重点校核。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B03展示高窄门扇，B04展示拉手连接，A07展示框与拉手构成；旁配门重分解图。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中文：“铜艺玻璃门 骨架 剖面 门扇重量 地埋轴连接”</a:t>
            </a:r>
          </a:p>
          <a:p xmlns:a="http://schemas.openxmlformats.org/drawingml/2006/main">
            <a:r>
              <a:t>英文：“bronze glass swing door frame section pivot load calculation”</a:t>
            </a:r>
          </a:p>
          <a:p xmlns:a="http://schemas.openxmlformats.org/drawingml/2006/main">
            <a:r>
              <a:t>平台：深化供应商资料、门窗系统商、建E网。</a:t>
            </a:r>
          </a:p>
          <a:p xmlns:a="http://schemas.openxmlformats.org/drawingml/2006/main">
            <a:r>
              <a:t>画面：铜板折边、内骨架、玻璃嵌固与拉手固定节点。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装饰构件也属于荷载，宽高比例和风力矩必须与门机一并校核。</a:t>
            </a:r>
          </a:p>
          <a:p xmlns:a="http://schemas.openxmlformats.org/drawingml/2006/main">
            <a:r>
              <a:t>来源：D2、I-B03/B04/A07；荷载与结构V。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型号｜底稿原值｜本项目核查重点</a:t>
            </a:r>
          </a:p>
          <a:p xmlns:a="http://schemas.openxmlformats.org/drawingml/2006/main">
            <a:r>
              <a:t>FAAC S800H｜液压地埋；800kg/2m｜适配曲线、频率、防护、应急操作</a:t>
            </a:r>
          </a:p>
          <a:p xmlns:a="http://schemas.openxmlformats.org/drawingml/2006/main">
            <a:r>
              <a:t>DITEC CUBIC6｜3.5m/600kg；IP67｜型号后缀、荷载组合、IP适用部件</a:t>
            </a:r>
          </a:p>
          <a:p xmlns:a="http://schemas.openxmlformats.org/drawingml/2006/main">
            <a:r>
              <a:t>盖泽Powerturn｜≤1600mm/300kg｜安装方式、组合条件、风荷载及安全附件</a:t>
            </a:r>
          </a:p>
          <a:p xmlns:a="http://schemas.openxmlformats.org/drawingml/2006/main">
            <a:r>
              <a:t>松下NSPDS1150｜150kg；IP67｜完整型号、官方文件及防护范围</a:t>
            </a:r>
          </a:p>
          <a:p xmlns:a="http://schemas.openxmlformats.org/drawingml/2006/main">
            <a:r>
              <a:t>瑞可达DFA127｜底稿120kg、≤45dB｜平开类别确认，性能与报价重新核验</a:t>
            </a:r>
          </a:p>
          <a:p xmlns:a="http://schemas.openxmlformats.org/drawingml/2006/main">
            <a:r>
              <a:t>重型平开整门参考：1.5–3万元/套，底稿称含地埋机和门体、铜艺另计；门体与铜艺增项边界须澄清。</a:t>
            </a:r>
          </a:p>
          <a:p xmlns:a="http://schemas.openxmlformats.org/drawingml/2006/main">
            <a:r>
              <a:t>地埋箱体、基坑、防水、排水、石材收口和拆装费用单列。</a:t>
            </a:r>
          </a:p>
          <a:p xmlns:a="http://schemas.openxmlformats.org/drawingml/2006/main">
            <a:r>
              <a:t>IP67不代表耐盐雾或长期浸泡适用，也不自动覆盖控制箱和接线端。</a:t>
            </a:r>
          </a:p>
          <a:p xmlns:a="http://schemas.openxmlformats.org/drawingml/2006/main">
            <a:r>
              <a:t>上置与地埋按全套工程成本比较，不只比较电机单价。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B08关闭状态＋B09开启状态，B07底部局部辅助；照片仅说明设备与空间位置，安装形式由图纸确认。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中文：“FAAC S800H DITEC CUBIC6 地埋门机 安装排水”</a:t>
            </a:r>
          </a:p>
          <a:p xmlns:a="http://schemas.openxmlformats.org/drawingml/2006/main">
            <a:r>
              <a:t>英文：“FAAC S800H Ditec CUBIC foundation box drainage installation”</a:t>
            </a:r>
          </a:p>
          <a:p xmlns:a="http://schemas.openxmlformats.org/drawingml/2006/main">
            <a:r>
              <a:t>平台：FAAC、DITEC、盖泽、瑞可达及松下官方渠道。</a:t>
            </a:r>
          </a:p>
          <a:p xmlns:a="http://schemas.openxmlformats.org/drawingml/2006/main">
            <a:r>
              <a:t>画面：荷载曲线、基础箱、排水口和电气接口完整的安装图。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地埋式的效果优势，必须以排水、防护和可维修性成立为前提。</a:t>
            </a:r>
          </a:p>
          <a:p xmlns:a="http://schemas.openxmlformats.org/drawingml/2006/main">
            <a:r>
              <a:t>来源：D1、D2、I-B07/B08/B09；参数V。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材料/部件｜沿海风险｜控制要求</a:t>
            </a:r>
          </a:p>
          <a:p xmlns:a="http://schemas.openxmlformats.org/drawingml/2006/main">
            <a:r>
              <a:t>T2紫铜/黄铜｜氧化、色差、盐渍及封闭层破坏｜分别封样，明确抗氧化封闭、清洁与修补方法</a:t>
            </a:r>
          </a:p>
          <a:p xmlns:a="http://schemas.openxmlformats.org/drawingml/2006/main">
            <a:r>
              <a:t>304/316不锈钢｜点蚀、缝隙积盐、焊接污染｜按暴露等级选用；高暴露部位优先评估316，处理焊缝</a:t>
            </a:r>
          </a:p>
          <a:p xmlns:a="http://schemas.openxmlformats.org/drawingml/2006/main">
            <a:r>
              <a:t>热镀锌钢/铝合金｜切口、焊缝、内腔及涂层缺陷｜明确牌号、预处理、镀层/涂层及补口体系</a:t>
            </a:r>
          </a:p>
          <a:p xmlns:a="http://schemas.openxmlformats.org/drawingml/2006/main">
            <a:r>
              <a:t>透明/纹理玻璃｜边部损伤、嵌固与破碎后安全｜外观与安全配置分开确定，不以“超白”代替安全说明</a:t>
            </a:r>
          </a:p>
          <a:p xmlns:a="http://schemas.openxmlformats.org/drawingml/2006/main">
            <a:r>
              <a:t>紧固件与连接｜异种金属腐蚀、积水缝隙｜配套选材、绝缘隔离、排水与可清洁性</a:t>
            </a:r>
          </a:p>
          <a:p xmlns:a="http://schemas.openxmlformats.org/drawingml/2006/main">
            <a:r>
              <a:t>中性盐雾试验应注明依据、时长、样件状态及判定标准，均待深化。</a:t>
            </a:r>
          </a:p>
          <a:p xmlns:a="http://schemas.openxmlformats.org/drawingml/2006/main">
            <a:r>
              <a:t>试验时长不能直接换算实际寿命；316同样需要清洁维护。</a:t>
            </a:r>
          </a:p>
          <a:p xmlns:a="http://schemas.openxmlformats.org/drawingml/2006/main">
            <a:r>
              <a:t>铜艺高端效果要同时控制交付色差和后续维修色差。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A02、A07、B04、A09组成材料细节板；B06补充纹理玻璃效果。图下注明“实际材质待核”。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中文：“沿海铜门 抗氧化封闭 不锈钢 电偶腐蚀 隔离节点”</a:t>
            </a:r>
          </a:p>
          <a:p xmlns:a="http://schemas.openxmlformats.org/drawingml/2006/main">
            <a:r>
              <a:t>英文：“coastal bronze door coating stainless steel galvanic isolation”</a:t>
            </a:r>
          </a:p>
          <a:p xmlns:a="http://schemas.openxmlformats.org/drawingml/2006/main">
            <a:r>
              <a:t>平台：材料厂家技术资料、防腐检测机构、品牌官网。</a:t>
            </a:r>
          </a:p>
          <a:p xmlns:a="http://schemas.openxmlformats.org/drawingml/2006/main">
            <a:r>
              <a:t>画面：封闭样板、焊缝处理、隔离垫片及涂层破损修补节点。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防腐不能停留在材料名称，切口、焊缝、连接和维护都要有要求。</a:t>
            </a:r>
          </a:p>
          <a:p xmlns:a="http://schemas.openxmlformats.org/drawingml/2006/main">
            <a:r>
              <a:t>来源：D4、I-A02/A07/A09/B04/B06、J；试验条件V。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品牌｜本项目比选定位｜重点场景｜必须补齐</a:t>
            </a:r>
          </a:p>
          <a:p xmlns:a="http://schemas.openxmlformats.org/drawingml/2006/main">
            <a:r>
              <a:t>多玛凯拔｜成熟自动门系统候选｜会所、大堂平移｜具体系列、承重定义、配套清单</a:t>
            </a:r>
          </a:p>
          <a:p xmlns:a="http://schemas.openxmlformats.org/drawingml/2006/main">
            <a:r>
              <a:t>松下｜标准化配置与成本对标候选｜常规平移等｜完整型号、官方参数、渠道</a:t>
            </a:r>
          </a:p>
          <a:p xmlns:a="http://schemas.openxmlformats.org/drawingml/2006/main">
            <a:r>
              <a:t>盖泽｜自动平开与安全控制候选｜单元上置平开｜荷载组合、安全附件、安装方式</a:t>
            </a:r>
          </a:p>
          <a:p xmlns:a="http://schemas.openxmlformats.org/drawingml/2006/main">
            <a:r>
              <a:t>瑞可达｜平移、平开分系列比选｜大堂自动门｜DFA127分类纠偏及系列对应</a:t>
            </a:r>
          </a:p>
          <a:p xmlns:a="http://schemas.openxmlformats.org/drawingml/2006/main">
            <a:r>
              <a:t>FAAC｜重型、液压地埋专项候选｜重铜门｜荷载曲线、防护及维护条件</a:t>
            </a:r>
          </a:p>
          <a:p xmlns:a="http://schemas.openxmlformats.org/drawingml/2006/main">
            <a:r>
              <a:t>DITEC｜机电地埋候选｜隐藏式平开｜型号后缀、排水及备件</a:t>
            </a:r>
          </a:p>
          <a:p xmlns:a="http://schemas.openxmlformats.org/drawingml/2006/main">
            <a:r>
              <a:t>CAME｜地埋平开补充候选｜隐藏式平开｜具体型号与全套技术资料待深化</a:t>
            </a:r>
          </a:p>
          <a:p xmlns:a="http://schemas.openxmlformats.org/drawingml/2006/main">
            <a:r>
              <a:t>此表为项目比选定位，不作未经验证的质量或价格排名。</a:t>
            </a:r>
          </a:p>
          <a:p xmlns:a="http://schemas.openxmlformats.org/drawingml/2006/main">
            <a:r>
              <a:t>同一工况询价：门宽、门重、频率、环境、失电操作与安全配置一致。</a:t>
            </a:r>
          </a:p>
          <a:p xmlns:a="http://schemas.openxmlformats.org/drawingml/2006/main">
            <a:r>
              <a:t>青岛服务网点、响应时限、备件库存与停机恢复时间纳入评价。</a:t>
            </a:r>
          </a:p>
          <a:p xmlns:a="http://schemas.openxmlformats.org/drawingml/2006/main">
            <a:r>
              <a:t>品牌评分权重及授权核查流程：待深化。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品牌—产品路线矩阵；B01与B08作系统场景小图，不得将照片对应到未确认品牌。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中文：“自动门 官方技术手册 青岛 授权售后 备件”</a:t>
            </a:r>
          </a:p>
          <a:p xmlns:a="http://schemas.openxmlformats.org/drawingml/2006/main">
            <a:r>
              <a:t>英文：“automatic door operator official technical data authorized service China”</a:t>
            </a:r>
          </a:p>
          <a:p xmlns:a="http://schemas.openxmlformats.org/drawingml/2006/main">
            <a:r>
              <a:t>平台：各品牌中国官网及官方授权渠道。</a:t>
            </a:r>
          </a:p>
          <a:p xmlns:a="http://schemas.openxmlformats.org/drawingml/2006/main">
            <a:r>
              <a:t>画面：技术手册封面、产品型号、售后覆盖及备件清单。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品牌定位帮助入围，真正定标要看同工况能力、交付和本地服务。</a:t>
            </a:r>
          </a:p>
          <a:p xmlns:a="http://schemas.openxmlformats.org/drawingml/2006/main">
            <a:r>
              <a:t>来源：D1、D2、J；品牌具体能力与服务V。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费用项｜底稿参考｜清单控制</a:t>
            </a:r>
          </a:p>
          <a:p xmlns:a="http://schemas.openxmlformats.org/drawingml/2006/main">
            <a:r>
              <a:t>门机系统｜整门35%–55%｜电机数量、控制器、安全附件范围</a:t>
            </a:r>
          </a:p>
          <a:p xmlns:a="http://schemas.openxmlformats.org/drawingml/2006/main">
            <a:r>
              <a:t>门体及五金｜整门25%–45%｜铜板、型材、玻璃、固定部分与五金</a:t>
            </a:r>
          </a:p>
          <a:p xmlns:a="http://schemas.openxmlformats.org/drawingml/2006/main">
            <a:r>
              <a:t>安装调试｜平移800–2,000元/套｜地埋土建配合、排水、保护另核</a:t>
            </a:r>
          </a:p>
          <a:p xmlns:a="http://schemas.openxmlformats.org/drawingml/2006/main">
            <a:r>
              <a:t>门禁/联动｜另计1,000–5,000元/套｜控制器、终端、布线及接口责任</a:t>
            </a:r>
          </a:p>
          <a:p xmlns:a="http://schemas.openxmlformats.org/drawingml/2006/main">
            <a:r>
              <a:t>售后维保｜金额与占比待深化｜质保、年度维护、备件及上门费用</a:t>
            </a:r>
          </a:p>
          <a:p xmlns:a="http://schemas.openxmlformats.org/drawingml/2006/main">
            <a:r>
              <a:t>占比来自不同配置参考，不可将上下限任意拼成100%；不建议画饼图。</a:t>
            </a:r>
          </a:p>
          <a:p xmlns:a="http://schemas.openxmlformats.org/drawingml/2006/main">
            <a:r>
              <a:t>档次｜配置建议｜应用方向｜控制原则</a:t>
            </a:r>
          </a:p>
          <a:p xmlns:a="http://schemas.openxmlformats.org/drawingml/2006/main">
            <a:r>
              <a:t>经济型｜常规感应平移或上置平开、标准框玻璃｜重复性入口、成本敏感部位｜安全与防腐要求不降档</a:t>
            </a:r>
          </a:p>
          <a:p xmlns:a="http://schemas.openxmlformats.org/drawingml/2006/main">
            <a:r>
              <a:t>标准型｜成熟系统、分环境防腐、完整检测与门禁｜主流单元、地下归家入口｜优先标准化、减少非标</a:t>
            </a:r>
          </a:p>
          <a:p xmlns:a="http://schemas.openxmlformats.org/drawingml/2006/main">
            <a:r>
              <a:t>高端型｜铜艺、极窄、隐藏设备；磁悬浮/地埋按条件选｜会所、重点展示入口｜定制与维护费用单列</a:t>
            </a:r>
          </a:p>
          <a:p xmlns:a="http://schemas.openxmlformats.org/drawingml/2006/main">
            <a:r>
              <a:t>预算锚点：普通平移1.2–2.2万、磁悬浮1.8–3.5万、重型平开1.5–3万/套，铜艺另计。</a:t>
            </a:r>
          </a:p>
          <a:p xmlns:a="http://schemas.openxmlformats.org/drawingml/2006/main">
            <a:r>
              <a:t>三档不直接绑定上述区间，最终取决于尺寸、配置和供货边界。</a:t>
            </a:r>
          </a:p>
          <a:p xmlns:a="http://schemas.openxmlformats.org/drawingml/2006/main">
            <a:r>
              <a:t>报价日期、含税、运费、固定玻璃、安装及维保：待深化。</a:t>
            </a:r>
          </a:p>
          <a:p xmlns:a="http://schemas.openxmlformats.org/drawingml/2006/main">
            <a:r>
              <a:t>全生命周期比较应计入耗材、备件、排水维护和停机影响。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费用区间条形图＋三档配置卡；以A02装饰细节与B10标准玻璃效果说明配置差异，不以图片估价。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中文：“自动门 报价清单 维保 地埋门机 土建费用”</a:t>
            </a:r>
          </a:p>
          <a:p xmlns:a="http://schemas.openxmlformats.org/drawingml/2006/main">
            <a:r>
              <a:t>英文：“automatic door cost breakdown maintenance quotation”</a:t>
            </a:r>
          </a:p>
          <a:p xmlns:a="http://schemas.openxmlformats.org/drawingml/2006/main">
            <a:r>
              <a:t>平台：项目历史合同、成本数据库、品牌正式报价。</a:t>
            </a:r>
          </a:p>
          <a:p xmlns:a="http://schemas.openxmlformats.org/drawingml/2006/main">
            <a:r>
              <a:t>画面：匿名化同口径清单与配置表，避免使用无来源网络报价截图。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先统一范围再比价格，避免低门机报价被安装、联动和维护增项抵消。</a:t>
            </a:r>
          </a:p>
          <a:p xmlns:a="http://schemas.openxmlformats.org/drawingml/2006/main">
            <a:r>
              <a:t>来源：D1—D3；正式报价V。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控制项｜落地要求｜主责协同</a:t>
            </a:r>
          </a:p>
          <a:p xmlns:a="http://schemas.openxmlformats.org/drawingml/2006/main">
            <a:r>
              <a:t>防潮防腐｜材料、焊缝、涂层、紧固件和电控防冷凝成套考虑｜建筑、供应商、工程</a:t>
            </a:r>
          </a:p>
          <a:p xmlns:a="http://schemas.openxmlformats.org/drawingml/2006/main">
            <a:r>
              <a:t>台风风压｜平移校核扇体、导向、轨道与锚固；平开校核门轴、铰链、限位及风力矩｜结构/幕墙、门机供应商</a:t>
            </a:r>
          </a:p>
          <a:p xmlns:a="http://schemas.openxmlformats.org/drawingml/2006/main">
            <a:r>
              <a:t>地埋排水｜项目要求IP67机体；明确部件范围，基坑接可靠排水并可维护｜给排水、电气、工程</a:t>
            </a:r>
          </a:p>
          <a:p xmlns:a="http://schemas.openxmlformats.org/drawingml/2006/main">
            <a:r>
              <a:t>地下安防｜核查信号、供电、金属遮挡、门禁与消防接口｜智能化、电气、消防</a:t>
            </a:r>
          </a:p>
          <a:p xmlns:a="http://schemas.openxmlformats.org/drawingml/2006/main">
            <a:r>
              <a:t>无障碍｜有效净宽以≥900mm作方案目标，按现行规范及具体用途复核｜建筑、无障碍、消防</a:t>
            </a:r>
          </a:p>
          <a:p xmlns:a="http://schemas.openxmlformats.org/drawingml/2006/main">
            <a:r>
              <a:t>地埋节点标明完成面、箱盖、排水去向、线管和拆卸路径；兼顾暴雨倒灌与冻结。</a:t>
            </a:r>
          </a:p>
          <a:p xmlns:a="http://schemas.openxmlformats.org/drawingml/2006/main">
            <a:r>
              <a:t>大面宽玻璃建议评估夹胶，构成与厚度由计算确定。</a:t>
            </a:r>
          </a:p>
          <a:p xmlns:a="http://schemas.openxmlformats.org/drawingml/2006/main">
            <a:r>
              <a:t>无明显门槛的照片只能证明视觉效果，不能代替高差、防水和排水节点。</a:t>
            </a:r>
          </a:p>
          <a:p xmlns:a="http://schemas.openxmlformats.org/drawingml/2006/main">
            <a:r>
              <a:t>失电、消防、门禁故障分别联调，不能统一假设“断电常开”。</a:t>
            </a:r>
          </a:p>
          <a:p xmlns:a="http://schemas.openxmlformats.org/drawingml/2006/main">
            <a:r>
              <a:t>建议配图类型</a:t>
            </a:r>
          </a:p>
          <a:p xmlns:a="http://schemas.openxmlformats.org/drawingml/2006/main">
            <a:r>
              <a:t>B07地面与门头局部、A09底部收口、B09门头与通行状态，搭配项目地埋排水节点及抗风传力示意。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中文：“地埋门机 基坑排水 防倒灌 自动门抗风压 无障碍净宽”</a:t>
            </a:r>
          </a:p>
          <a:p xmlns:a="http://schemas.openxmlformats.org/drawingml/2006/main">
            <a:r>
              <a:t>英文：“underground door operator drainage backflow wind load accessible clear width”</a:t>
            </a:r>
          </a:p>
          <a:p xmlns:a="http://schemas.openxmlformats.org/drawingml/2006/main">
            <a:r>
              <a:t>平台：官方安装手册、项目专项图纸、专业节点资料库。</a:t>
            </a:r>
          </a:p>
          <a:p xmlns:a="http://schemas.openxmlformats.org/drawingml/2006/main">
            <a:r>
              <a:t>画面：带标高、排水终点、电气接口、检修路径的剖面。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性能要求要转成图纸节点、责任分工和现场测试记录，才能落实。</a:t>
            </a:r>
          </a:p>
          <a:p xmlns:a="http://schemas.openxmlformats.org/drawingml/2006/main">
            <a:r>
              <a:t>来源：D4、I-B07/A09/B09、J；专项参数V。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核心要点</a:t>
            </a:r>
          </a:p>
          <a:p xmlns:a="http://schemas.openxmlformats.org/drawingml/2006/main">
            <a:r>
              <a:t>输入部位、洞口、净宽、人流、环境及立面目标，建立逐樘门表。</a:t>
            </a:r>
          </a:p>
          <a:p xmlns:a="http://schemas.openxmlformats.org/drawingml/2006/main">
            <a:r>
              <a:t>先核消防、疏散、无障碍和失电操作，再检查收纳与开启空间。</a:t>
            </a:r>
          </a:p>
          <a:p xmlns:a="http://schemas.openxmlformats.org/drawingml/2006/main">
            <a:r>
              <a:t>对候选方案核算门宽、门重、风荷载、频率及环境适用性。</a:t>
            </a:r>
          </a:p>
          <a:p xmlns:a="http://schemas.openxmlformats.org/drawingml/2006/main">
            <a:r>
              <a:t>完成品牌技术澄清、样板测试及同口径报价，再定型入库。</a:t>
            </a:r>
          </a:p>
          <a:p xmlns:a="http://schemas.openxmlformats.org/drawingml/2006/main">
            <a:r>
              <a:t>样板测试覆盖感应、防夹、联动、失电、噪声与排水；指标待深化。</a:t>
            </a:r>
          </a:p>
          <a:p xmlns:a="http://schemas.openxmlformats.org/drawingml/2006/main">
            <a:r>
              <a:t>建议配图类型：选型决策树</a:t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TD</a:t>
            </a:r>
          </a:p>
          <a:p xmlns:a="http://schemas.openxmlformats.org/drawingml/2006/main">
            <a:r>
              <a:t>    A[输入：部位、门洞、净宽、人流、环境] --&gt; B{安全及规范要求可满足？}</a:t>
            </a:r>
          </a:p>
          <a:p xmlns:a="http://schemas.openxmlformats.org/drawingml/2006/main">
            <a:r>
              <a:t>    B -- 否 --&gt; X[调整门洞、动线或系统]</a:t>
            </a:r>
          </a:p>
          <a:p xmlns:a="http://schemas.openxmlformats.org/drawingml/2006/main">
            <a:r>
              <a:t>    B -- 是 --&gt; C{具备侧向收纳及门头条件？}</a:t>
            </a:r>
          </a:p>
          <a:p xmlns:a="http://schemas.openxmlformats.org/drawingml/2006/main">
            <a:r>
              <a:t>    C -- 是 --&gt; D[纳入平移候选]</a:t>
            </a:r>
          </a:p>
          <a:p xmlns:a="http://schemas.openxmlformats.org/drawingml/2006/main">
            <a:r>
              <a:t>    C -- 否 --&gt; E{具备安全平开扇区？}</a:t>
            </a:r>
          </a:p>
          <a:p xmlns:a="http://schemas.openxmlformats.org/drawingml/2006/main">
            <a:r>
              <a:t>    E -- 否 --&gt; X</a:t>
            </a:r>
          </a:p>
          <a:p xmlns:a="http://schemas.openxmlformats.org/drawingml/2006/main">
            <a:r>
              <a:t>    E -- 是 --&gt; F[纳入平开候选]</a:t>
            </a:r>
          </a:p>
          <a:p xmlns:a="http://schemas.openxmlformats.org/drawingml/2006/main">
            <a:r>
              <a:t>    D --&gt; G{同时具备安全平开条件？}</a:t>
            </a:r>
          </a:p>
          <a:p xmlns:a="http://schemas.openxmlformats.org/drawingml/2006/main">
            <a:r>
              <a:t>    G -- 是 --&gt; F</a:t>
            </a:r>
          </a:p>
          <a:p xmlns:a="http://schemas.openxmlformats.org/drawingml/2006/main">
            <a:r>
              <a:t>    G -- 否 --&gt; H[平移方案深化]</a:t>
            </a:r>
          </a:p>
          <a:p xmlns:a="http://schemas.openxmlformats.org/drawingml/2006/main">
            <a:r>
              <a:t>    F --&gt; I{地埋排水与维护条件成立？}</a:t>
            </a:r>
          </a:p>
          <a:p xmlns:a="http://schemas.openxmlformats.org/drawingml/2006/main">
            <a:r>
              <a:t>    I -- 是 --&gt; J[上置与地埋同步比选]</a:t>
            </a:r>
          </a:p>
          <a:p xmlns:a="http://schemas.openxmlformats.org/drawingml/2006/main">
            <a:r>
              <a:t>    I -- 否 --&gt; K[优先评估上置平开]</a:t>
            </a:r>
          </a:p>
          <a:p xmlns:a="http://schemas.openxmlformats.org/drawingml/2006/main">
            <a:r>
              <a:t>    H --&gt; L[核验荷载、频率、环境及安全配置]</a:t>
            </a:r>
          </a:p>
          <a:p xmlns:a="http://schemas.openxmlformats.org/drawingml/2006/main">
            <a:r>
              <a:t>    J --&gt; L</a:t>
            </a:r>
          </a:p>
          <a:p xmlns:a="http://schemas.openxmlformats.org/drawingml/2006/main">
            <a:r>
              <a:t>    K --&gt; L</a:t>
            </a:r>
          </a:p>
          <a:p xmlns:a="http://schemas.openxmlformats.org/drawingml/2006/main">
            <a:r>
              <a:t>    L --&gt; M{技术核验通过？}</a:t>
            </a:r>
          </a:p>
          <a:p xmlns:a="http://schemas.openxmlformats.org/drawingml/2006/main">
            <a:r>
              <a:t>    M -- 否 --&gt; X</a:t>
            </a:r>
          </a:p>
          <a:p xmlns:a="http://schemas.openxmlformats.org/drawingml/2006/main">
            <a:r>
              <a:t>    M -- 是 --&gt; N[样板测试、成本比较、方案定型]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>下一步工作安排</a:t>
            </a:r>
          </a:p>
          <a:p xmlns:a="http://schemas.openxmlformats.org/drawingml/2006/main">
            <a:r>
              <a:t>工作｜主责建议｜可审查成果</a:t>
            </a:r>
          </a:p>
          <a:p xmlns:a="http://schemas.openxmlformats.org/drawingml/2006/main">
            <a:r>
              <a:t>门表及环境调查｜设计＋工程｜尺寸、净宽、门重、暴露、动线、排水表</a:t>
            </a:r>
          </a:p>
          <a:p xmlns:a="http://schemas.openxmlformats.org/drawingml/2006/main">
            <a:r>
              <a:t>品牌技术澄清｜设计＋采购＋供应商｜官方手册、适配曲线、选型确认与服务承诺</a:t>
            </a:r>
          </a:p>
          <a:p xmlns:a="http://schemas.openxmlformats.org/drawingml/2006/main">
            <a:r>
              <a:t>样板段测试｜工程牵头，设计及物业参加｜感应、防夹、失电、联动、噪声与排水记录</a:t>
            </a:r>
          </a:p>
          <a:p xmlns:a="http://schemas.openxmlformats.org/drawingml/2006/main">
            <a:r>
              <a:t>成本对标｜成本＋设计｜同口径报价、配置分档、维保及备件价格</a:t>
            </a:r>
          </a:p>
          <a:p xmlns:a="http://schemas.openxmlformats.org/drawingml/2006/main">
            <a:r>
              <a:t>【补充素材搜索建议】 </a:t>
            </a:r>
          </a:p>
          <a:p xmlns:a="http://schemas.openxmlformats.org/drawingml/2006/main">
            <a:r>
              <a:t>中文：“自动门 样板验收 安全传感器测试 地埋基坑试水”</a:t>
            </a:r>
          </a:p>
          <a:p xmlns:a="http://schemas.openxmlformats.org/drawingml/2006/main">
            <a:r>
              <a:t>英文：“automatic door commissioning safety sensor drainage test”</a:t>
            </a:r>
          </a:p>
          <a:p xmlns:a="http://schemas.openxmlformats.org/drawingml/2006/main">
            <a:r>
              <a:t>平台：品牌调试手册、项目样板记录、工程验收资料。</a:t>
            </a:r>
          </a:p>
          <a:p xmlns:a="http://schemas.openxmlformats.org/drawingml/2006/main">
            <a:r>
              <a:t>画面：测试人员、测点及记录表同框；决策树建议直接绘制矢量图。</a:t>
            </a:r>
          </a:p>
          <a:p xmlns:a="http://schemas.openxmlformats.org/drawingml/2006/main">
            <a:r>
              <a:t>口述备注</a:t>
            </a:r>
          </a:p>
          <a:p xmlns:a="http://schemas.openxmlformats.org/drawingml/2006/main">
            <a:r>
              <a:t>用决策树缩小方案，再通过样板、技术确认和成本对标完成定型。</a:t>
            </a:r>
          </a:p>
          <a:p xmlns:a="http://schemas.openxmlformats.org/drawingml/2006/main">
            <a:r>
              <a:t>来源：J；测试方法、阈值与责任签认V。</a:t>
            </a:r>
          </a:p>
          <a:p xmlns:a="http://schemas.openxmlformats.org/drawingml/2006/main">
            <a:r>
              <a:t>四、定稿时的数据追溯清单</a:t>
            </a:r>
          </a:p>
          <a:p xmlns:a="http://schemas.openxmlformats.org/drawingml/2006/main">
            <a:r>
              <a:t>以下放入PPT备注或配套技术表，不增加展示页数。</a:t>
            </a:r>
          </a:p>
          <a:p xmlns:a="http://schemas.openxmlformats.org/drawingml/2006/main">
            <a:r>
              <a:t>待核内容｜当前依据｜定稿所需证据</a:t>
            </a:r>
          </a:p>
          <a:p xmlns:a="http://schemas.openxmlformats.org/drawingml/2006/main">
            <a:r>
              <a:t>门型与安装方式｜图片、底稿｜逐樘门表及系统深化图</a:t>
            </a:r>
          </a:p>
          <a:p xmlns:a="http://schemas.openxmlformats.org/drawingml/2006/main">
            <a:r>
              <a:t>门机承重、门宽、频率｜底稿参数｜官方手册、适配曲线、厂家书面确认</a:t>
            </a:r>
          </a:p>
          <a:p xmlns:a="http://schemas.openxmlformats.org/drawingml/2006/main">
            <a:r>
              <a:t>噪声｜底稿数值｜测试条件与样板实测</a:t>
            </a:r>
          </a:p>
          <a:p xmlns:a="http://schemas.openxmlformats.org/drawingml/2006/main">
            <a:r>
              <a:t>IP及耐腐蚀｜底稿要求｜对应部件证明、防腐试验及判定标准</a:t>
            </a:r>
          </a:p>
          <a:p xmlns:a="http://schemas.openxmlformats.org/drawingml/2006/main">
            <a:r>
              <a:t>玻璃与骨架｜底稿材料｜结构计算、材料牌号、构造及样板</a:t>
            </a:r>
          </a:p>
          <a:p xmlns:a="http://schemas.openxmlformats.org/drawingml/2006/main">
            <a:r>
              <a:t>风压与锚固｜沿海要求｜项目荷载、计算书、连接节点</a:t>
            </a:r>
          </a:p>
          <a:p xmlns:a="http://schemas.openxmlformats.org/drawingml/2006/main">
            <a:r>
              <a:t>造价｜底稿估算｜同期同范围正式报价</a:t>
            </a:r>
          </a:p>
          <a:p xmlns:a="http://schemas.openxmlformats.org/drawingml/2006/main">
            <a:r>
              <a:t>图片｜A01—A10、B01—B10｜保留原图；B02与A10去重</a:t>
            </a:r>
          </a:p>
          <a:p xmlns:a="http://schemas.openxmlformats.org/drawingml/2006/main">
            <a:r>
              <a:t>最终汇报应把“已知参考值”“顾问建议”“待核验事项”分开呈现，既保留成本判断依据，也避免把未经确认的设备参数写成采购承诺。</a:t>
            </a:r>
          </a:p>
          <a:p xmlns:a="http://schemas.openxmlformats.org/drawingml/2006/main">
            <a:r>
              <a:t>收到这批补充图片，按上传顺序编号为 C01—C10。上一版整合稿先作为工作稿，配图以本次更新为准。</a:t>
            </a:r>
          </a:p>
          <a:p xmlns:a="http://schemas.openxmlformats.org/drawingml/2006/main">
            <a:r>
              <a:t>目前累计收到 30张，去除两处明显重复后为28张不同画面：C01与B01重复，B02与A10重复。</a:t>
            </a:r>
          </a:p>
          <a:p xmlns:a="http://schemas.openxmlformats.org/drawingml/2006/main">
            <a:r>
              <a:t>编号｜图片可读信息｜对应页面及用途</a:t>
            </a:r>
          </a:p>
          <a:p xmlns:a="http://schemas.openxmlformats.org/drawingml/2006/main">
            <a:r>
              <a:t>C01｜与B01相同的玻璃平移入口｜沿用B01编号，用于P4</a:t>
            </a:r>
          </a:p>
          <a:p xmlns:a="http://schemas.openxmlformats.org/drawingml/2006/main">
            <a:r>
              <a:t>C02｜室内看向室外的双扇玻璃门，两侧固定玻璃、底部装饰板｜P2：入口尺度与通透性；P8：门体比例</a:t>
            </a:r>
          </a:p>
          <a:p xmlns:a="http://schemas.openxmlformats.org/drawingml/2006/main">
            <a:r>
              <a:t>C03｜室外视角的宽入口，中央通道开启、两侧玻璃分格清晰｜P4—P5：开口与侧向区域分析，驱动方式待核</a:t>
            </a:r>
          </a:p>
          <a:p xmlns:a="http://schemas.openxmlformats.org/drawingml/2006/main">
            <a:r>
              <a:t>C04｜密集几何分格、异形装饰拉手、侧墙嵌入式门禁｜P8：装饰门体；P12：非标构件成本</a:t>
            </a:r>
          </a:p>
          <a:p xmlns:a="http://schemas.openxmlformats.org/drawingml/2006/main">
            <a:r>
              <a:t>C05｜双扇平开状态，门头可见装置、长拉手与两侧玻璃｜P7：开启扇区；P9：设备安装界面</a:t>
            </a:r>
          </a:p>
          <a:p xmlns:a="http://schemas.openxmlformats.org/drawingml/2006/main">
            <a:r>
              <a:t>C06｜大面宽入口、中央开口、两侧装饰玻璃、独立门禁柱｜P4：入口组织；P13：感应及门禁位置</a:t>
            </a:r>
          </a:p>
          <a:p xmlns:a="http://schemas.openxmlformats.org/drawingml/2006/main">
            <a:r>
              <a:t>C07｜金属色门套、双扇分格玻璃门、连续门厅空间｜封面候选；P8：整体立面与门体关系</a:t>
            </a:r>
          </a:p>
          <a:p xmlns:a="http://schemas.openxmlformats.org/drawingml/2006/main">
            <a:r>
              <a:t>C08｜双扇玻璃门、曲线长拉手、多层框线及室外地面接口｜P8：门扇与拉手；P10：材料及连接</a:t>
            </a:r>
          </a:p>
          <a:p xmlns:a="http://schemas.openxmlformats.org/drawingml/2006/main">
            <a:r>
              <a:t>C09｜工厂加工状态的框体、圆弧装饰构件及包装保护｜P10：加工与表面质量；P12：非标加工成本</a:t>
            </a:r>
          </a:p>
          <a:p xmlns:a="http://schemas.openxmlformats.org/drawingml/2006/main">
            <a:r>
              <a:t>C10｜室外入口整体，圆角门套、玻璃门、长拉手及入口铺装｜P1：室外暴露场景；P13：风雨与地面接口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353fa8e0a44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19adae84f42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5a9e4110845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40b92e3d94a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7bc5709f547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8fbcbcf9e43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9443A8-8D22-4DFA-B5D5-DBC455735C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FD58B8-0222-4DC1-84ED-6B0AD76AFD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FCA3C9-9099-4672-A636-A68AA6AEC9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46F420-0B44-4D48-B01A-9D3E1A00B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1195FE-9241-40F2-A78C-0B3F83E960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77ABAC-0572-4823-8EF9-1D153C915F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22AC68-C2E4-4881-B0C2-E429BDBD98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0D27EBB-E065-48A1-8C9F-8BA5019DB2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597143-7D1D-4533-8E20-47822C895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36DE28-D7C6-4255-B61C-42CFC515AB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033894ea2f43ac" /><Relationship Type="http://schemas.openxmlformats.org/officeDocument/2006/relationships/slideLayout" Target="/ppt/slideLayouts/slideLayout1.xml" Id="R5bc779bac3c840aa" /><Relationship Type="http://schemas.openxmlformats.org/officeDocument/2006/relationships/slideLayout" Target="/ppt/slideLayouts/slideLayout2.xml" Id="R80432233a96644b7" /><Relationship Type="http://schemas.openxmlformats.org/officeDocument/2006/relationships/slideLayout" Target="/ppt/slideLayouts/slideLayout3.xml" Id="R9ac4b609f4d643db" /><Relationship Type="http://schemas.openxmlformats.org/officeDocument/2006/relationships/slideLayout" Target="/ppt/slideLayouts/slideLayout4.xml" Id="Rc30ee8b9f91546ed" /><Relationship Type="http://schemas.openxmlformats.org/officeDocument/2006/relationships/slideLayout" Target="/ppt/slideLayouts/slideLayout5.xml" Id="R767bac050a32481c" /><Relationship Type="http://schemas.openxmlformats.org/officeDocument/2006/relationships/slideLayout" Target="/ppt/slideLayouts/slideLayout6.xml" Id="Rf4ec43b56d2c48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c779bac3c840aa"/>
    <p:sldLayoutId xmlns:r="http://schemas.openxmlformats.org/officeDocument/2006/relationships" id="2147483650" r:id="R80432233a96644b7"/>
    <p:sldLayoutId xmlns:r="http://schemas.openxmlformats.org/officeDocument/2006/relationships" id="2147483651" r:id="R9ac4b609f4d643db"/>
    <p:sldLayoutId xmlns:r="http://schemas.openxmlformats.org/officeDocument/2006/relationships" id="2147483652" r:id="Rc30ee8b9f91546ed"/>
    <p:sldLayoutId xmlns:r="http://schemas.openxmlformats.org/officeDocument/2006/relationships" id="2147483653" r:id="R767bac050a32481c"/>
    <p:sldLayoutId xmlns:r="http://schemas.openxmlformats.org/officeDocument/2006/relationships" id="2147483654" r:id="Rf4ec43b56d2c48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8f882f89d4069" /><Relationship Type="http://schemas.openxmlformats.org/officeDocument/2006/relationships/notesSlide" Target="/ppt/notesSlides/notesSlide1.xml" Id="R23450167f1e944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aee794e9743f1" /><Relationship Type="http://schemas.openxmlformats.org/officeDocument/2006/relationships/notesSlide" Target="/ppt/notesSlides/notesSlide2.xml" Id="R4e6cfb6310b240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e80cb1b7974580" /><Relationship Type="http://schemas.openxmlformats.org/officeDocument/2006/relationships/notesSlide" Target="/ppt/notesSlides/notesSlide3.xml" Id="R58171765ea9542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ce5a210cc42dd" /><Relationship Type="http://schemas.openxmlformats.org/officeDocument/2006/relationships/notesSlide" Target="/ppt/notesSlides/notesSlide4.xml" Id="R8ebddca257d944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0c614914641c2" /><Relationship Type="http://schemas.openxmlformats.org/officeDocument/2006/relationships/notesSlide" Target="/ppt/notesSlides/notesSlide5.xml" Id="R6e5cb5e5ebb542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6915e186fa4ccc" /><Relationship Type="http://schemas.openxmlformats.org/officeDocument/2006/relationships/notesSlide" Target="/ppt/notesSlides/notesSlide6.xml" Id="R930f42de28404e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3b998c3804486" /><Relationship Type="http://schemas.openxmlformats.org/officeDocument/2006/relationships/notesSlide" Target="/ppt/notesSlides/notesSlide7.xml" Id="R8039f1a788a148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a8d80730d490c" /><Relationship Type="http://schemas.openxmlformats.org/officeDocument/2006/relationships/notesSlide" Target="/ppt/notesSlides/notesSlide8.xml" Id="R6f6257ba3d9441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23a1bb93794da8" /><Relationship Type="http://schemas.openxmlformats.org/officeDocument/2006/relationships/notesSlide" Target="/ppt/notesSlides/notesSlide9.xml" Id="Raf99154816424b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67933f33754f36" /><Relationship Type="http://schemas.openxmlformats.org/officeDocument/2006/relationships/notesSlide" Target="/ppt/notesSlides/notesSlide10.xml" Id="R5aba1bc22a9a48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bc6e7bab246ca" /><Relationship Type="http://schemas.openxmlformats.org/officeDocument/2006/relationships/notesSlide" Target="/ppt/notesSlides/notesSlide11.xml" Id="R7b6a32a3d0434f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b86ddb6914aa4" /><Relationship Type="http://schemas.openxmlformats.org/officeDocument/2006/relationships/notesSlide" Target="/ppt/notesSlides/notesSlide12.xml" Id="R8ba0190ee0bf48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b1d3a996b4c16" /><Relationship Type="http://schemas.openxmlformats.org/officeDocument/2006/relationships/notesSlide" Target="/ppt/notesSlides/notesSlide13.xml" Id="R33f970967ad844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5b190ffd24b4f" /><Relationship Type="http://schemas.openxmlformats.org/officeDocument/2006/relationships/notesSlide" Target="/ppt/notesSlides/notesSlide14.xml" Id="Ra012f1e077fa4a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1df4a12464ece" /><Relationship Type="http://schemas.openxmlformats.org/officeDocument/2006/relationships/notesSlide" Target="/ppt/notesSlides/notesSlide15.xml" Id="Rbc12420506ae43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0DC4E-6F5E-4D6D-94C0-E1F50F1C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600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青岛沿海高端住宅公区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BB3AB-4E89-400D-98D1-E1FE91A3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335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5100" b="1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电动门选型研究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C7938-8625-4E52-BA57-AB426AF8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平移门 vs. 平开门｜设计、工程与成本协同决策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DA090-EAD4-41F8-B23A-72979971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8572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研究范围：地上会所、住宅单元大堂、地下单元大堂。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0CFE0-C5A5-4E71-B073-6ED4189C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4470"/>
            <a:ext cx="8572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决策维度：通行、立面、环境适应性、维护与成本。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61833-64A2-4ADA-B892-79C079AC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4065"/>
            <a:ext cx="8572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汇报目标：形成分部位选型原则、技术边界与询价清单。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4D036-9CEE-4DB6-B6BA-9C217E23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952500"/>
            <a:ext cx="447675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1F67D-74F2-42CD-AA2F-994E0A69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143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F7A9D-0925-48A3-80D2-075B2D08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504950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C07（封面候选） / B10 / A03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4C84F-B93D-4A12-A8F1-B3C85DC3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5913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平移入口与平开入口对照</a:t>
            </a:r>
          </a:p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参考图片待置入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CDFB1-12FD-429E-AA51-4BD6B368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067637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01039-1DDC-408C-AC3D-D6033023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P1｜背景与范围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8699A-0ABA-4F07-AD36-8A7BBD09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三类入口，三种使用与环境条件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CC826-7967-4D89-8BD3-875945F9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EBDD-862C-4C4E-88EA-4BF5904F73F5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4001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0298"/>
                <a:gridCol w="3780473"/>
                <a:gridCol w="3920490"/>
                <a:gridCol w="392049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部位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动线特点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环境风险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核心需求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地上会所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接待访客，活动时可能集中通行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室外盐雾、风雨，视雨棚与朝向而变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展示性、通行效率、风雨缓冲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住宅单元大堂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日常反复通行，老人、儿童及推车并行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盐雾、风压及门厅内外温湿差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门禁、安全、净宽、关门可靠性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地下单元大堂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车库归家、携物通行、安防控制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潮湿、冷凝、积水；盐雾暴露程度需实勘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防潮、排水、感应及安防联动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9A060-F34E-4BF3-AAB7-8714E244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按“室外直露—半室外—室内缓冲区”划分环境，不能仅按地上、地下判断。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6FB5A-2502-49F8-B41A-FF8A138D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青岛除夏季台风影响，还需检查冬季低温、冻融及排水冻结。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47DD4-213E-4604-AC30-7CA1FAE3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人流、风荷载、温湿度及防涝标高：待深化。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905A6-BE9E-4A79-A1A7-0E1D8D0E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429125"/>
            <a:ext cx="29908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22777-7140-40D4-A62C-7D1322A8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61962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4A99A-2E9E-4F13-87DD-86961CA4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981575"/>
            <a:ext cx="260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C10 / A01 / A06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3F1A0-052C-4217-B378-EB9261CD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675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场景 / 部件参考</a:t>
            </a:r>
          </a:p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参考图片待置入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5BC65-E8F3-4836-949C-FDF40BCF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DF461-C0E7-403A-8265-36FE3E0F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来源：D4、I-A01/A06、J；项目环境参数V。</a:t>
            </a:r>
          </a:p>
        </p:txBody>
      </p:sp>
    </p:spTree>
    <p:extLst>
      <p:ext uri="{BB962C8B-B14F-4D97-AF65-F5344CB8AC3E}">
        <p14:creationId xmlns:p14="http://schemas.microsoft.com/office/powerpoint/2010/main" val="10234760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2B15F-7565-46AD-AB7E-59E98B14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P2｜结论先行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C9C5B-D5A4-4379-8788-2D523B34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先看空间与工况，再看立面与价格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8C50C-1B8B-4FE1-9EB1-E79B118D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75F68-C6B7-4E2B-8C28-7B16AB15F259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4001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80385"/>
                <a:gridCol w="4900613"/>
                <a:gridCol w="6020753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判断维度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平移门优先评估条件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平开门优先评估条件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通行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连续双向、推车或携物通行较多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门禁控制、间歇通行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空间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有侧向收纳、门头承重与检修空间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有安全开启扇区、候门空间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门洞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大面宽；固定玻璃与活动扇可合理组合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窄洞口或侧向无法收纳；需核净宽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立面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连续玻璃、视线通透、隐藏门头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高门扇、装饰分格、拉手仪式感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成本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常规感应系统作为基准方案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上置与地埋分别询价，避免默认地埋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EB6C1-ABAB-4B5A-9C5B-461CB17C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会所主入口优先评估平移；单元和地下入口按上述条件比选。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ACC5E-A19E-4399-BCB4-1D71FADD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不设未经验证的“某门宽以上必须平移”硬阈值。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D4103-896C-4818-86EF-E5A8415C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高湿、易积水部位优先排除不具备可靠排水的地埋方案。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73D1D-28BD-4998-B9A3-66EA3C05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675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消防、疏散、无障碍及失电操作要求先于外观选择。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E1057-F702-42BD-8A9E-26CC9C49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667375"/>
            <a:ext cx="29908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5B7D2-806F-4460-BDFD-74C73960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8578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55557-B1B4-4AB7-84E4-5BA7054F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219825"/>
            <a:ext cx="260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C02 / B10 / A06 / A10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3A2DC-986D-4B57-901A-ADBAFBB5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675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场景 / 部件参考</a:t>
            </a:r>
          </a:p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参考图片待置入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51250-915F-4825-97D9-ACE10E3E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0EADC-3510-461B-AEC9-8ED56BEC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来源：I-B10/A06/A10、J；选型工况V。</a:t>
            </a:r>
          </a:p>
        </p:txBody>
      </p:sp>
    </p:spTree>
    <p:extLst>
      <p:ext uri="{BB962C8B-B14F-4D97-AF65-F5344CB8AC3E}">
        <p14:creationId xmlns:p14="http://schemas.microsoft.com/office/powerpoint/2010/main" val="1971035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595F7-1E41-4B87-9C65-D6F278CB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P3｜分类逻辑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33389-CE71-43C9-8E15-F2368AE3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开启方式决定专业接口与维护路径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C0490-D4F4-467A-B6BD-B8049A60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2FEEE-F5D5-4A54-A000-869F04FA3C2A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400175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80385"/>
                <a:gridCol w="4900613"/>
                <a:gridCol w="6020753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电动平移门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电动平开门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土建接口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门头承重、侧向收纳、检修口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门轴受力、开启扇区；地埋型另设基坑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机电接口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门头电源、感应、门禁、安全检测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上置或地埋供电、扇区检测、门禁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主要维护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轨道、吊轮、传动、导向与传感器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门轴、铰链、传动机构；地埋另查箱体排水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报价边界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单/双扇、固定玻璃、安全附件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电机数量、门扇、上置/地埋及土建范围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DEE53-27BD-4BDC-B14A-40A5D108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一级按平移/平开，二级再分常规/磁悬浮、上置/地埋。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E1C25-545C-48D5-B7B5-48523943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电动平开不等于地埋，隐藏设备也不代表无需检修。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2F682-9B4C-490B-AD02-EE7FA4FA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整门统一按元/套比较；门体可辅以元/㎡分析。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B0508-C3A3-496F-9A3F-C2021895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990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D5113-F6D6-45A9-B01C-8CAC4DA7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2387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2883E-9E57-4094-9083-BEEDBBCE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600700"/>
            <a:ext cx="260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B01 / A03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BCA7C-C4CE-464E-B06B-B2296EB5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675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场景 / 部件参考</a:t>
            </a:r>
          </a:p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参考图片待置入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38E4E-F3DE-4B71-9C56-0B91B427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5786F-AD3A-406F-B0B3-B9F440CD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来源：I-B01/A03、J。</a:t>
            </a:r>
          </a:p>
        </p:txBody>
      </p:sp>
    </p:spTree>
    <p:extLst>
      <p:ext uri="{BB962C8B-B14F-4D97-AF65-F5344CB8AC3E}">
        <p14:creationId xmlns:p14="http://schemas.microsoft.com/office/powerpoint/2010/main" val="341081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2F62B-B3F1-41A7-AEEA-DD157D7F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P4｜平移门场景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52C68-C5EE-4606-9983-1479AD01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适合宽入口，但必须留出收纳与检修空间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7B15C-3D62-496A-905A-2D301F07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BB06F-E23E-4F30-815A-F080AC40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4772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适用：会所主入口、大面宽单元大堂及满足条件的地下归家入口。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5D629-7FA8-4066-86A8-6F372B07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7930"/>
            <a:ext cx="84772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连续通行时不占平开扇区，但门扇侧向移动区仍需防夹及防碰控制。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6FB8D-564C-49B9-A828-1E694EAB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0860"/>
            <a:ext cx="84772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门机可藏于门头或吊顶，应预留承重连接和可拆卸检修面。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9E5BE-D752-476F-B8F3-4502E2BA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3790"/>
            <a:ext cx="84772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迎风入口需配合门厅、雨棚与台风运行策略，门机不能替代抗风设计。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27FDA-4A90-4080-8239-61BFB21B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6720"/>
            <a:ext cx="84772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人流量阈值、开启时间及安全检测范围：待深化。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6A92E-B6CB-4078-A821-27ED227F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0"/>
            <a:ext cx="481012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33C09-3B4C-47A1-9835-05739562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ACA7C-C704-428E-BBDF-E791FF6E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4429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B01（C01重复） / C03 / C06 / B10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C4545-3CD5-49AB-BCC5-C84538ED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972300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门体、空间与节点参考</a:t>
            </a:r>
          </a:p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参考图片待置入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4C0D0-0126-4D59-911E-332FCDED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A2591-E5BE-4058-A330-32D72CCA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来源：D1、I-B01/B10、J。</a:t>
            </a:r>
          </a:p>
        </p:txBody>
      </p:sp>
    </p:spTree>
    <p:extLst>
      <p:ext uri="{BB962C8B-B14F-4D97-AF65-F5344CB8AC3E}">
        <p14:creationId xmlns:p14="http://schemas.microsoft.com/office/powerpoint/2010/main" val="1607552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D6B56-A875-4720-8884-F583B398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P5｜平移门门体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5FD8F-494E-4908-9CDC-A290819F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通透与极窄效果需由结构和安全配置支撑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2CC2F-7BB0-49BC-B2C6-DB1B9AB8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86044-A360-465E-A3F5-D010ADFE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47725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铜艺方案：双面纯铜面板＋不锈钢骨架＋蜂窝板；厚度、连接与封边待深化。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2DD2A-04E4-4843-A778-8E62C97C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1310"/>
            <a:ext cx="847725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玻璃底稿为6–12mm超白钢化；超白是外观属性，安全构成与厚度须另行设计。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353C8-0D4B-42CB-BD5D-3BB7207F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7620"/>
            <a:ext cx="847725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参考宽3600×高2900mm，须确认是洞口、整樘还是其他尺寸口径。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E0644-A636-44D9-823C-267025CA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3930"/>
            <a:ext cx="847725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净开宽1200–2800mm为底稿参考范围，不直接与上述尺寸组成确定方案。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E01E0-ED8D-4BB2-9E05-44BB00B6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0240"/>
            <a:ext cx="847725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大面宽优先评估夹胶安全玻璃；极窄框同步校核刚度、嵌固、导向及门重。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47974-701E-442B-81EC-A844702B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0"/>
            <a:ext cx="481012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89FD0-F49F-43F0-9835-8AF03DFA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3F028-3242-4963-A8C0-2B80EE4F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4429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B10 / B05 / C03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09EAE-F4CA-4781-B506-2DC0240F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972300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门体、空间与节点参考</a:t>
            </a:r>
          </a:p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参考图片待置入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94A9F-0A82-4298-A830-E7EF5D1F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94C6D-AA90-4899-B7FE-410AA3A2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来源：D1、D4、I-B10/B05；尺寸及结构V。</a:t>
            </a:r>
          </a:p>
        </p:txBody>
      </p:sp>
    </p:spTree>
    <p:extLst>
      <p:ext uri="{BB962C8B-B14F-4D97-AF65-F5344CB8AC3E}">
        <p14:creationId xmlns:p14="http://schemas.microsoft.com/office/powerpoint/2010/main" val="14768046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F5E2B-479C-4898-B355-58F0F781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P6｜平移门机与价格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177DA-B699-4622-8364-4C95A58F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核实型号，统一承重和供货口径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65D73-68F8-46B6-9678-92E22CF4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3E3C1-DDBB-4BE2-B426-F5EE0DD3863C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4001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0298"/>
                <a:gridCol w="3780473"/>
                <a:gridCol w="3920490"/>
                <a:gridCol w="392049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底稿型号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底稿承重/噪声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机组参考价，不含门体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处理意见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多玛ES200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200kg；≤48dB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8,800–15,000元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核实版本、单/双扇承重与测试条件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松下150型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150kg；≤50dB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6,500–9,800元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补完整型号及技术文件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瑞可达DFA127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120kg；≤45dB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12,000–18,000元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移至平开核查，不参与本页排名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6954E-01A4-4863-B5F8-DD308379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普通感应平移整门：1.2–2.2万元/套，铜艺另计。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E1E39-138B-4035-8A5F-FEAB165F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磁悬浮整门：1.8–3.5万元/套，铜艺另计；具体品牌型号待深化。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57B60-93B4-41C3-BFA1-6105BBB5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机组价与整门价不可直接相加，也不可任意组合不同区间端点。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B6B4A-9CD6-48F0-B9A5-B0FC428E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噪声需统一测试环境、距离、门体及运行状态后比较。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EE047-4A6F-4EBE-851C-A07AA552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429125"/>
            <a:ext cx="29908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3D6A6-61E8-4105-846F-FC8C1569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61962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B08A0-A9AD-432E-A661-77CC1C1C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981575"/>
            <a:ext cx="260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B01（门头局部）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26160-0E48-40B0-87A1-2ADFFF3F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675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场景 / 部件参考</a:t>
            </a:r>
          </a:p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参考图片待置入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EB7C7-CAFD-43E9-9066-456D1DEC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B30D2-8747-48A7-9964-705216E3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来源：D1；全部性能和价格V。</a:t>
            </a:r>
          </a:p>
        </p:txBody>
      </p:sp>
    </p:spTree>
    <p:extLst>
      <p:ext uri="{BB962C8B-B14F-4D97-AF65-F5344CB8AC3E}">
        <p14:creationId xmlns:p14="http://schemas.microsoft.com/office/powerpoint/2010/main" val="2114536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83F6D-33B2-4FBB-9A83-8E108765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P7｜平开门场景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41371-97D9-46FA-B41D-28946616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单元人行入口重点检查开启冲突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2F2C2-3318-4CEB-9DC3-DAC8830E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35133-AEC2-4EEA-93A6-BB15C1CA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4772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适用：住宅单元人行门、地下大堂通道及缺少侧向收纳的门洞。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A9516-456D-442C-A530-730A108B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7930"/>
            <a:ext cx="84772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窄洞口可评估单扇，但有效净宽要扣除框、扇及五金影响。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2DE44-5A16-40D2-A029-1BD41937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0860"/>
            <a:ext cx="84772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开启扇区不得与候梯、门禁等待、推车和转弯动线冲突。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9B2E6-11FF-47B4-9248-BCFE5F3F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3790"/>
            <a:ext cx="84772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高门扇与装饰拉手形成仪式感，也增加重量和日常维护工作。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12935-F3FC-45F1-A823-F5BB79DB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6720"/>
            <a:ext cx="84772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地埋与上置同步比选；开启角度、频率及室外适用性待确认。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76A66-B295-4908-8A82-46F6497D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0"/>
            <a:ext cx="481012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CD607-9AF4-4A00-AAB6-05AA09A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E1743-873D-4081-8D6F-B36CE264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4429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A03 / A05 / B07 / C05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E102E-7958-4E6A-89BD-86D0863E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972300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门体、空间与节点参考</a:t>
            </a:r>
          </a:p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参考图片待置入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5C352-1873-4B1F-8963-83994E40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D5CEB-3B0F-4622-962F-B5DBA8A3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来源：D2、I-A03/A05/B07、J。</a:t>
            </a:r>
          </a:p>
        </p:txBody>
      </p:sp>
    </p:spTree>
    <p:extLst>
      <p:ext uri="{BB962C8B-B14F-4D97-AF65-F5344CB8AC3E}">
        <p14:creationId xmlns:p14="http://schemas.microsoft.com/office/powerpoint/2010/main" val="9479585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A2060-4505-4FAE-BA47-0B2C19B8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P8｜平开门门体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04A6D-5AC5-434B-915A-942C5E58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门宽、门重与风力矩共同控制选型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4B36B-B1C8-41AD-941D-569FA0A8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5B5BC-74A2-4797-A6DB-92F671E7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4772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底稿材料：T2紫铜＋热镀锌钢骨架；或超白玻璃＋极窄金属框。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9931E-6792-44CC-8500-4C03A0A3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7930"/>
            <a:ext cx="847725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沿海高暴露部位，热镀锌钢须论证焊缝、切口和内腔防腐，并与不锈钢方案比选。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C3968-E0D8-45EE-8A7D-33749D08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4240"/>
            <a:ext cx="847725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常规参考单扇宽1.2–1.8m、高2.4–2.9m，不代表所有门机均可覆盖。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C234E-9FB0-4128-8632-6EB7EA6D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847725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门扇重量应计入玻璃、框、铜板、长拉手及连接件，不能只估玻璃重量。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960A8-140D-44B2-A275-A5B9A8F8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6860"/>
            <a:ext cx="847725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“3.5m/600kg”等能力需核曲线；门越宽，风力矩及传动要求越需重点校核。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1CE09-826B-412C-996D-AD9DB031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0"/>
            <a:ext cx="481012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8C1A1-24EE-4413-B3B4-053C431F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282F3-3C43-4893-90E7-81532145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4429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B03 / B04 / A07 / C02 / C04 / C07 / C08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C9CFE-A440-4722-BA9C-FBB988C9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972300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门体、空间与节点参考</a:t>
            </a:r>
          </a:p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参考图片待置入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54AAA-64E9-42F2-A402-3DA2EE5D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C0703-BD0F-4E40-B61E-33882FB1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来源：D2、I-B03/B04/A07；荷载与结构V。</a:t>
            </a:r>
          </a:p>
        </p:txBody>
      </p:sp>
    </p:spTree>
    <p:extLst>
      <p:ext uri="{BB962C8B-B14F-4D97-AF65-F5344CB8AC3E}">
        <p14:creationId xmlns:p14="http://schemas.microsoft.com/office/powerpoint/2010/main" val="17613492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CB129-EF53-4849-B6A7-F7C4660B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P9｜平开门机与价格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5D86E-9FA6-48F4-BD05-B8259E36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隐藏设备必须具备可维护的工程条件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4145F-5506-4BDE-B1FD-C0B0D7C2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0D163-E669-4A42-AB80-62DA87AD36D7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4001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80385"/>
                <a:gridCol w="4900613"/>
                <a:gridCol w="6020753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型号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底稿原值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本项目核查重点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FAAC S800H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液压地埋；800kg/2m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适配曲线、频率、防护、应急操作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DITEC CUBIC6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3.5m/600kg；IP67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型号后缀、荷载组合、IP适用部件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盖泽Powerturn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≤1600mm/300kg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安装方式、组合条件、风荷载及安全附件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松下NSPDS1150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150kg；IP67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完整型号、官方文件及防护范围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瑞可达DFA127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底稿120kg、≤45dB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平开类别确认，性能与报价重新核验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05704-F58B-4F1D-9EF3-1EB8EBD7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重型平开整门参考：1.5–3万元/套，底稿称含地埋机和门体、铜艺另计；门体与铜艺增项边界须澄清。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F0E16-1B97-4D02-B78C-AC102B90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地埋箱体、基坑、防水、排水、石材收口和拆装费用单列。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2A83A-426F-4353-93A1-07B777F8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IP67不代表耐盐雾或长期浸泡适用，也不自动覆盖控制箱和接线端。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98993-F62A-48E3-A0E1-FB6BBA0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675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上置与地埋按全套工程成本比较，不只比较电机单价。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C4D17-F13E-4B01-9628-6D33C29F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667375"/>
            <a:ext cx="29908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66C84-3517-43E8-89C9-636136F0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8578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0F0E1-DBE9-42EA-BB58-5F70F177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219825"/>
            <a:ext cx="260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B08 / B09 / B07 / C05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0CF09-317E-48EB-886A-F7470F85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675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场景 / 部件参考</a:t>
            </a:r>
          </a:p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参考图片待置入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3C786-CD9C-4696-9D14-478CD79D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64792-6F74-429D-8117-BC928043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来源：D1、D2、I-B07/B08/B09；参数V。</a:t>
            </a:r>
          </a:p>
        </p:txBody>
      </p:sp>
    </p:spTree>
    <p:extLst>
      <p:ext uri="{BB962C8B-B14F-4D97-AF65-F5344CB8AC3E}">
        <p14:creationId xmlns:p14="http://schemas.microsoft.com/office/powerpoint/2010/main" val="8691619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94984-646A-4BCA-B376-47E1BE37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P10｜材料与沿海适配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EFEC0-DE46-4755-8A72-650BAB92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将防腐要求落实到节点与验收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40E09-DF35-40BD-AF05-19E4F64F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5FEDF-2BE2-410E-8B2A-9FCDD5F92E7B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4001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80385"/>
                <a:gridCol w="4900613"/>
                <a:gridCol w="6020753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材料/部件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沿海风险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控制要求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T2紫铜/黄铜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氧化、色差、盐渍及封闭层破坏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分别封样，明确抗氧化封闭、清洁与修补方法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304/316不锈钢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点蚀、缝隙积盐、焊接污染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按暴露等级选用；高暴露部位优先评估316，处理焊缝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热镀锌钢/铝合金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切口、焊缝、内腔及涂层缺陷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明确牌号、预处理、镀层/涂层及补口体系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透明/纹理玻璃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边部损伤、嵌固与破碎后安全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外观与安全配置分开确定，不以“超白”代替安全说明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紧固件与连接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异种金属腐蚀、积水缝隙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配套选材、绝缘隔离、排水与可清洁性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8E589-1311-4117-884E-C999072A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中性盐雾试验应注明依据、时长、样件状态及判定标准，均待深化。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6E48E-EE13-475E-A238-F5A73ECD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试验时长不能直接换算实际寿命；316同样需要清洁维护。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43A4B-9A03-4F7D-9FB3-85525915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铜艺高端效果要同时控制交付色差和后续维修色差。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C0898-C479-437D-A3A8-B0B63E8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667375"/>
            <a:ext cx="29908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FB565-4C1D-4CD9-99BE-70E81489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8578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47039-0F0D-4816-AD10-1763A6D1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219825"/>
            <a:ext cx="260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A02 / A07 / B04 / A09 / B06 / C08 / C09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3109E-F4D3-406F-A793-2A6A0BC7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675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场景 / 部件参考</a:t>
            </a:r>
          </a:p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参考图片待置入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9B28F-2634-4957-8F21-06659D43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0F883-69E9-46AD-A640-1BE75419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来源：D4、I-A02/A07/A09/B04/B06、J；试验条件V。</a:t>
            </a:r>
          </a:p>
        </p:txBody>
      </p:sp>
    </p:spTree>
    <p:extLst>
      <p:ext uri="{BB962C8B-B14F-4D97-AF65-F5344CB8AC3E}">
        <p14:creationId xmlns:p14="http://schemas.microsoft.com/office/powerpoint/2010/main" val="902199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45049-AFAE-4FAA-B0D6-AE549DCE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P11｜品牌比较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E5BF4-CD7C-486B-BC53-97AF9754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按产品路线入围，按同工况和本地服务定标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CC8F6-6058-48F6-B514-E8576730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00E44-CF33-4FEE-851D-49F3781E7DFE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400175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0298"/>
                <a:gridCol w="3780473"/>
                <a:gridCol w="3920490"/>
                <a:gridCol w="3920490"/>
              </a:tblGrid>
              <a:tr h="49410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品牌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本项目比选定位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重点场景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必须补齐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多玛凯拔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成熟自动门系统候选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会所、大堂平移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具体系列、承重定义、配套清单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松下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标准化配置与成本对标候选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常规平移等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完整型号、官方参数、渠道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盖泽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自动平开与安全控制候选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单元上置平开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荷载组合、安全附件、安装方式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瑞可达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平移、平开分系列比选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大堂自动门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DFA127分类纠偏及系列对应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FAAC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重型、液压地埋专项候选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重铜门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荷载曲线、防护及维护条件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DITEC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机电地埋候选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隐藏式平开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型号后缀、排水及备件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CAME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地埋平开补充候选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隐藏式平开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具体型号与全套技术资料待深化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0AA43-03E5-4886-AF74-A0C7545A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此表为项目比选定位，不作未经验证的质量或价格排名。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3DCC7-EB09-40DD-BAAC-06F37E12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同一工况询价：门宽、门重、频率、环境、失电操作与安全配置一致。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8C201-3A20-4193-891D-6EAAEF0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青岛服务网点、响应时限、备件库存与停机恢复时间纳入评价。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C1DE0-50EE-46E9-AB35-DC34525A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品牌评分权重及授权核查流程：待深化。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B325A-F84C-4876-9D36-B3FDDA54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905500"/>
            <a:ext cx="29908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9CE9E-D059-4A90-81F6-214D3523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0960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9CF2F-89C5-44A1-83D2-061DD900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457950"/>
            <a:ext cx="260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B01 / B08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0761A-9FBC-403D-AE95-DF348314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F0D03-F538-4727-BD13-5FA09A8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来源：D1、D2、J；品牌具体能力与服务V。</a:t>
            </a:r>
          </a:p>
        </p:txBody>
      </p:sp>
    </p:spTree>
    <p:extLst>
      <p:ext uri="{BB962C8B-B14F-4D97-AF65-F5344CB8AC3E}">
        <p14:creationId xmlns:p14="http://schemas.microsoft.com/office/powerpoint/2010/main" val="15898157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81F57-C3DA-41A6-AD15-4F0A99DB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P12｜成本拆解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BBF86-3F30-4B1E-BBE7-2E26E632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先统一清单，再形成经济、标准、高端三档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EBE3D-8060-4DC8-A42B-D91CA749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DDA5E-9BB2-4080-958D-CAB6894CFB90}"/>
              </a:ext>
            </a:extLst>
          </p:cNvPr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40017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80385"/>
                <a:gridCol w="4900613"/>
                <a:gridCol w="6020753"/>
              </a:tblGrid>
              <a:tr h="3968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费用项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底稿参考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清单控制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门机系统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整门35%–55%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电机数量、控制器、安全附件范围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门体及五金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整门25%–45%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铜板、型材、玻璃、固定部分与五金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安装调试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平移800–2,000元/套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地埋土建配合、排水、保护另核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门禁/联动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另计1,000–5,000元/套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控制器、终端、布线及接口责任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售后维保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金额与占比待深化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质保、年度维护、备件及上门费用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E580C-8407-4270-B5B6-B9A397EB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400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占比来自不同配置参考，不可将上下限任意拼成100%；不建议画饼图。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43190-FB7D-4871-A958-19DE4F765904}"/>
              </a:ext>
            </a:extLst>
          </p:cNvPr>
          <p:cNvGraphicFramePr/>
          <p:nvPr/>
        </p:nvGraphicFramePr>
        <p:xfrm>
          <a:off xmlns:a="http://schemas.openxmlformats.org/drawingml/2006/main" x="609600" y="4676775"/>
          <a:ext xmlns:a="http://schemas.openxmlformats.org/drawingml/2006/main" cx="1400175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0298"/>
                <a:gridCol w="3780473"/>
                <a:gridCol w="3920490"/>
                <a:gridCol w="3920490"/>
              </a:tblGrid>
              <a:tr h="41433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档次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配置建议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应用方向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控制原则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经济型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常规感应平移或上置平开、标准框玻璃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重复性入口、成本敏感部位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安全与防腐要求不降档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标准型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成熟系统、分环境防腐、完整检测与门禁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主流单元、地下归家入口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优先标准化、减少非标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高端型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铜艺、极窄、隐藏设备；磁悬浮/地埋按条件选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会所、重点展示入口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定制与维护费用单列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29345-495D-4877-9FFB-E159E3C4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预算锚点：普通平移1.2–2.2万、磁悬浮1.8–3.5万、重型平开1.5–3万/套，铜艺另计。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6C16B-7B30-4CD5-9421-79B0F7FA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00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三档不直接绑定上述区间，最终取决于尺寸、配置和供货边界。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AB236-F1E4-4AF1-8631-CCCF878D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532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报价日期、含税、运费、固定玻璃、安装及维保：待深化。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7038A-9146-4363-B191-89EBEDAA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057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全生命周期比较应计入耗材、备件、排水维护和停机影响。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8F488-D64E-4BE5-AEF3-A6E330C8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496050"/>
            <a:ext cx="28956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830C4-A77E-4FA4-8607-D74BD642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6865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F62B1-5FF2-4771-AF99-D0801756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048500"/>
            <a:ext cx="251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A02 / B10 / C04 / C09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73632-F437-432B-8FBF-C9CC8FA7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9D521-A1D5-4671-8CAA-B34429B7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来源：D1—D3；正式报价V。</a:t>
            </a:r>
          </a:p>
        </p:txBody>
      </p:sp>
    </p:spTree>
    <p:extLst>
      <p:ext uri="{BB962C8B-B14F-4D97-AF65-F5344CB8AC3E}">
        <p14:creationId xmlns:p14="http://schemas.microsoft.com/office/powerpoint/2010/main" val="18707700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DEBEC-4AF7-4C4D-9A7C-676D6DF1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P13｜沿海落地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9D240-D4B6-420B-B5F6-A342425D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防腐、抗风、排水和联动均须可验收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28F1C-5DBE-43AB-AAE8-D0E421A2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53C0C-927A-4845-A874-E81F2C710D7E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4001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80385"/>
                <a:gridCol w="4900613"/>
                <a:gridCol w="6020753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控制项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落地要求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主责协同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防潮防腐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材料、焊缝、涂层、紧固件和电控防冷凝成套考虑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建筑、供应商、工程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台风风压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平移校核扇体、导向、轨道与锚固；平开校核门轴、铰链、限位及风力矩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结构/幕墙、门机供应商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地埋排水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项目要求IP67机体；明确部件范围，基坑接可靠排水并可维护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给排水、电气、工程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地下安防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核查信号、供电、金属遮挡、门禁与消防接口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智能化、电气、消防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无障碍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有效净宽以≥900mm作方案目标，按现行规范及具体用途复核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建筑、无障碍、消防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7BFF2-7AF2-45E6-90A2-07F2AAA9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地埋节点标明完成面、箱盖、排水去向、线管和拆卸路径；兼顾暴雨倒灌与冻结。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37EC8-928D-412E-8F16-7A486A57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大面宽玻璃建议评估夹胶，构成与厚度由计算确定。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89827-B3EF-48F7-9899-69DD8D8B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无明显门槛的照片只能证明视觉效果，不能代替高差、防水和排水节点。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859BC-3BB8-43AC-B023-CB986BFE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675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失电、消防、门禁故障分别联调，不能统一假设“断电常开”。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5CA56-53CC-4B77-BA8D-A4F40E80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667375"/>
            <a:ext cx="29908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4ADAF-7691-429D-AB76-04C9FC7D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8578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【图片占位框】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54EF4-7F19-4620-A630-FFFCAE7C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219825"/>
            <a:ext cx="260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B07 / A09 / B09 / C06 / C10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37F6E-3E8A-4DCF-8616-8EF698F5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675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场景 / 部件参考</a:t>
            </a:r>
          </a:p>
          <a:p xmlns:a="http://schemas.openxmlformats.org/drawingml/2006/main">
            <a:pPr>
              <a:def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参考图片待置入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D7753-8423-4C2E-9FCC-7EF8E6CA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84ACC-2E89-481D-9C44-BBE16365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来源：D4、I-B07/A09/B09、J；专项参数V。</a:t>
            </a:r>
          </a:p>
        </p:txBody>
      </p:sp>
    </p:spTree>
    <p:extLst>
      <p:ext uri="{BB962C8B-B14F-4D97-AF65-F5344CB8AC3E}">
        <p14:creationId xmlns:p14="http://schemas.microsoft.com/office/powerpoint/2010/main" val="1252335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42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C6CCEB-7122-45A1-9A17-DF2623A8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P14｜决策树与下一步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A5409-2F80-4F49-AF52-40B7C122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先过约束，再定系统与配置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35E8E-6549-4A7A-B45E-6DBA3462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0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04848-21E6-48CA-A98B-1A3E94E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400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输入部位、洞口、净宽、人流、环境及立面目标，建立逐樘门表。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470F9-A36E-44E6-A850-9DECAB70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400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先核消防、疏散、无障碍和失电操作，再检查收纳与开启空间。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11BCA-107D-463E-A8B5-0633B292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400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对候选方案核算门宽、门重、风荷载、频率及环境适用性。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66FA7-4CC0-4012-9293-825CD10B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400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完成品牌技术澄清、样板测试及同口径报价，再定型入库。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BA9DE-47A2-4C0D-AC7D-AE7C60E2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400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样板测试覆盖感应、防夹、联动、失电、噪声与排水；指标待深化。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4A547-C081-42FF-9731-DD601E16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A 输入：部位、门洞、净宽、人流、环境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1FA7B-7506-43AA-9CB5-DBBD38FF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B 安全及规范要求可满足？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F1CB2-F73B-4388-A8D8-AD290C8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C 具备侧向收纳及门头条件？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6C421-4862-4D68-9877-B3F9E08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00725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D 纳入平移候选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8A76F-B5EE-435C-9566-7A86EB1C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G 同时具备安全平开条件？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77324-5E07-4E16-BAD5-10E3198D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86575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H 平移方案深化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4AF50-102E-48E8-AB01-80E441A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5780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E 具备安全平开扇区？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64DE7-D8D1-4A23-BE85-9DF7EFDD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00725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F 纳入平开候选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BB09D-D911-4B8C-9151-52F3274C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3436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I 地埋排水与维护条件成立？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9CD83-0576-4360-B989-E3C49FEA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886575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J 上置与地埋同步比选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1F5C9D-5E67-4DA2-928D-D84EE258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42950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K 优先评估上置平开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8A8A5-69D9-482D-BCA7-5A1C4079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6"/>
          </a:solidFill>
          <a:ln xmlns:a="http://schemas.openxmlformats.org/drawingml/2006/main" w="9525">
            <a:solidFill>
              <a:srgbClr val="5551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1EEE8"/>
                </a:solidFill>
                <a:latin typeface="Noto Sans CJK SC"/>
                <a:ea typeface="Noto Sans CJK SC"/>
                <a:cs typeface="Noto Sans CJK SC"/>
              </a:rPr>
              <a:t>X 调整门洞、动线或系统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E2C0D-C9FF-4928-80BA-51ED98C4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决策路径：A→B；B否→X，B是→C；C是→D，C否→E；E否→X，E是→F；D→G；G是→F，G否→H；F→I；I是→J，I否→K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4F5F5-143A-4D62-AA9C-75789C39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53025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L 核验荷载、频率、环境及安全配置</a:t>
            </a:r>
          </a:p>
          <a:p xmlns:a="http://schemas.openxmlformats.org/drawingml/2006/main">
            <a:pPr>
              <a:defRPr sz="15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M 技术核验通过？否→X；是→N</a:t>
            </a:r>
          </a:p>
          <a:p xmlns:a="http://schemas.openxmlformats.org/drawingml/2006/main">
            <a:pPr>
              <a:defRPr sz="15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N 样板测试、成本比较、方案定型</a:t>
            </a:r>
          </a:p>
          <a:p xmlns:a="http://schemas.openxmlformats.org/drawingml/2006/main">
            <a:pPr>
              <a:defRPr sz="15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H / J / K → L → M</a:t>
            </a:r>
          </a:p>
        </p:txBody>
      </p:sp>
      <p:graphicFrame>
        <p:nvGraphicFrame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52771-B633-437A-8B11-A430ACB27434}"/>
              </a:ext>
            </a:extLst>
          </p:cNvPr>
          <p:cNvGraphicFramePr/>
          <p:nvPr/>
        </p:nvGraphicFramePr>
        <p:xfrm>
          <a:off xmlns:a="http://schemas.openxmlformats.org/drawingml/2006/main" x="8382000" y="6381750"/>
          <a:ext xmlns:a="http://schemas.openxmlformats.org/drawingml/2006/main" cx="6191250" cy="1552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62075"/>
                <a:gridCol w="2166937"/>
                <a:gridCol w="2662238"/>
              </a:tblGrid>
              <a:tr h="31051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工作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主责建议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7C89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可审查成果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T w="6668">
                      <a:solidFill>
                        <a:srgbClr val="55514B"/>
                      </a:solidFill>
                      <a:prstDash val="solid"/>
                    </a:lnT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574A39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门表及环境调查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设计＋工程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尺寸、净宽、门重、暴露、动线、排水表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品牌技术澄清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设计＋采购＋供应商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官方手册、适配曲线、选型确认与服务承诺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样板段测试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工程牵头，设计及物业参加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感应、防夹、失电、联动、噪声与排水记录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303236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成本对标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55514B"/>
                      </a:solidFill>
                      <a:prstDash val="solid"/>
                    </a:lnL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成本＋设计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1EEE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同口径报价、配置分档、维保及备件价格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55514B"/>
                      </a:solidFill>
                      <a:prstDash val="solid"/>
                    </a:lnR>
                    <a:lnB w="6668">
                      <a:solidFill>
                        <a:srgbClr val="55514B"/>
                      </a:solidFill>
                      <a:prstDash val="solid"/>
                    </a:lnB>
                    <a:solidFill>
                      <a:srgbClr val="292B2E"/>
                    </a:solidFill>
                  </a:tcPr>
                </a:tc>
              </a:tr>
            </a:tbl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D6D9C6-65E3-49CB-97C5-49E99DCE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1343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BD9B68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6141E6-AFB1-43CB-8CE1-A9B70C97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BEB9B0"/>
                </a:solidFill>
                <a:latin typeface="Noto Sans CJK SC"/>
                <a:ea typeface="Noto Sans CJK SC"/>
                <a:cs typeface="Noto Sans CJK SC"/>
              </a:rPr>
              <a:t>来源：J；测试方法、阈值与责任签认V。</a:t>
            </a:r>
          </a:p>
        </p:txBody>
      </p:sp>
    </p:spTree>
    <p:extLst>
      <p:ext uri="{BB962C8B-B14F-4D97-AF65-F5344CB8AC3E}">
        <p14:creationId xmlns:p14="http://schemas.microsoft.com/office/powerpoint/2010/main" val="1578862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2026-10-21T08:34:01.0240000Z</dcterms:created>
  <dcterms:modified xsi:type="dcterms:W3CDTF">2026-10-21T08:34:01.0240000Z</dcterms:modified>
</coreProperties>
</file>